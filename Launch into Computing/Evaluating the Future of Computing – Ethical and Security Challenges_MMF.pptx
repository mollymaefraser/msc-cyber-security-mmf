
<file path=[Content_Types].xml><?xml version="1.0" encoding="utf-8"?>
<Types xmlns="http://schemas.openxmlformats.org/package/2006/content-types">
  <Default Extension="jpeg" ContentType="image/jpeg"/>
  <Default Extension="m4a" ContentType="audi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12"/>
  </p:notesMasterIdLst>
  <p:sldIdLst>
    <p:sldId id="259" r:id="rId2"/>
    <p:sldId id="260" r:id="rId3"/>
    <p:sldId id="261" r:id="rId4"/>
    <p:sldId id="262" r:id="rId5"/>
    <p:sldId id="263" r:id="rId6"/>
    <p:sldId id="264" r:id="rId7"/>
    <p:sldId id="265" r:id="rId8"/>
    <p:sldId id="266" r:id="rId9"/>
    <p:sldId id="267" r:id="rId10"/>
    <p:sldId id="268"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498"/>
    <p:restoredTop sz="61290"/>
  </p:normalViewPr>
  <p:slideViewPr>
    <p:cSldViewPr snapToGrid="0">
      <p:cViewPr varScale="1">
        <p:scale>
          <a:sx n="77" d="100"/>
          <a:sy n="77" d="100"/>
        </p:scale>
        <p:origin x="1848"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105D2A7-935C-DB4F-A282-3DC505D853A9}" type="datetimeFigureOut">
              <a:rPr lang="en-GB" smtClean="0"/>
              <a:t>02/01/2026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F9F8012-0316-BF47-8E30-AF29A1EA5F8B}" type="slidenum">
              <a:rPr lang="en-GB" smtClean="0"/>
              <a:t>‹#›</a:t>
            </a:fld>
            <a:endParaRPr lang="en-GB"/>
          </a:p>
        </p:txBody>
      </p:sp>
    </p:spTree>
    <p:extLst>
      <p:ext uri="{BB962C8B-B14F-4D97-AF65-F5344CB8AC3E}">
        <p14:creationId xmlns:p14="http://schemas.microsoft.com/office/powerpoint/2010/main" val="28894365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Script:</a:t>
            </a:r>
            <a:r>
              <a:rPr lang="en-GB" dirty="0"/>
              <a:t> "Good morning/afternoon. My name is [Your Name], and today I will be evaluating the future of computing through the lens of Quantum Computing. As we stand on the brink of a 'Quantum Revolution,' we see a technology that promises to solve problems in seconds that would take classical supercomputers millennia. However, this power brings a 'Quantum Paradox': the same technology that could cure diseases could also dismantle the digital trust our global economy is built upon. Today, I will critically evaluate the technical foundations of QC, its security risks—specifically the 'Quantum Apocalypse'—and the ethical frameworks required to govern its use."</a:t>
            </a:r>
          </a:p>
        </p:txBody>
      </p:sp>
      <p:sp>
        <p:nvSpPr>
          <p:cNvPr id="4" name="Slide Number Placeholder 3"/>
          <p:cNvSpPr>
            <a:spLocks noGrp="1"/>
          </p:cNvSpPr>
          <p:nvPr>
            <p:ph type="sldNum" sz="quarter" idx="5"/>
          </p:nvPr>
        </p:nvSpPr>
        <p:spPr/>
        <p:txBody>
          <a:bodyPr/>
          <a:lstStyle/>
          <a:p>
            <a:fld id="{7F9F8012-0316-BF47-8E30-AF29A1EA5F8B}" type="slidenum">
              <a:rPr lang="en-GB" smtClean="0"/>
              <a:t>1</a:t>
            </a:fld>
            <a:endParaRPr lang="en-GB"/>
          </a:p>
        </p:txBody>
      </p:sp>
    </p:spTree>
    <p:extLst>
      <p:ext uri="{BB962C8B-B14F-4D97-AF65-F5344CB8AC3E}">
        <p14:creationId xmlns:p14="http://schemas.microsoft.com/office/powerpoint/2010/main" val="61229335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Script:</a:t>
            </a:r>
            <a:r>
              <a:rPr lang="en-GB" dirty="0"/>
              <a:t> "At the core of this technology are qubits. Unlike classical bits, which are strictly 0 or 1, qubits exist in a </a:t>
            </a:r>
            <a:r>
              <a:rPr lang="en-GB" b="1" dirty="0"/>
              <a:t>superposition</a:t>
            </a:r>
            <a:r>
              <a:rPr lang="en-GB" dirty="0"/>
              <a:t>, representing a combination of both states simultaneously until they are measured. This allows for massive parallel computation.</a:t>
            </a:r>
          </a:p>
          <a:p>
            <a:r>
              <a:rPr lang="en-GB" dirty="0"/>
              <a:t>We also utilize </a:t>
            </a:r>
            <a:r>
              <a:rPr lang="en-GB" b="1" dirty="0"/>
              <a:t>entanglement</a:t>
            </a:r>
            <a:r>
              <a:rPr lang="en-GB" dirty="0"/>
              <a:t>, a unique quantum link where the state of one qubit determines the state of another regardless of distance. As Nielsen and Chuang noted, this is the fundamental mechanism for correlated information processing that gives quantum computers their edge over classical systems."</a:t>
            </a:r>
          </a:p>
        </p:txBody>
      </p:sp>
      <p:sp>
        <p:nvSpPr>
          <p:cNvPr id="4" name="Slide Number Placeholder 3"/>
          <p:cNvSpPr>
            <a:spLocks noGrp="1"/>
          </p:cNvSpPr>
          <p:nvPr>
            <p:ph type="sldNum" sz="quarter" idx="5"/>
          </p:nvPr>
        </p:nvSpPr>
        <p:spPr/>
        <p:txBody>
          <a:bodyPr/>
          <a:lstStyle/>
          <a:p>
            <a:fld id="{7F9F8012-0316-BF47-8E30-AF29A1EA5F8B}" type="slidenum">
              <a:rPr lang="en-GB" smtClean="0"/>
              <a:t>2</a:t>
            </a:fld>
            <a:endParaRPr lang="en-GB"/>
          </a:p>
        </p:txBody>
      </p:sp>
    </p:spTree>
    <p:extLst>
      <p:ext uri="{BB962C8B-B14F-4D97-AF65-F5344CB8AC3E}">
        <p14:creationId xmlns:p14="http://schemas.microsoft.com/office/powerpoint/2010/main" val="14466788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Script:</a:t>
            </a:r>
            <a:r>
              <a:rPr lang="en-GB" dirty="0"/>
              <a:t> "Where does this 'Quantum Advantage' manifest? In </a:t>
            </a:r>
            <a:r>
              <a:rPr lang="en-GB" b="1" dirty="0"/>
              <a:t>Chemistry</a:t>
            </a:r>
            <a:r>
              <a:rPr lang="en-GB" dirty="0"/>
              <a:t>, we can simulate molecular interactions at an atomic level, bypassing the trial-and-error of traditional drug discovery. In </a:t>
            </a:r>
            <a:r>
              <a:rPr lang="en-GB" b="1" dirty="0"/>
              <a:t>Finance</a:t>
            </a:r>
            <a:r>
              <a:rPr lang="en-GB" dirty="0"/>
              <a:t>, firms are already exploring Monte Carlo simulations and portfolio optimization to detect arbitrage in high-frequency trading. </a:t>
            </a:r>
            <a:r>
              <a:rPr lang="en-GB" b="1" dirty="0"/>
              <a:t>Logistics</a:t>
            </a:r>
            <a:r>
              <a:rPr lang="en-GB" dirty="0"/>
              <a:t> is perhaps the most immediate application. Using the Quantum Approximate Optimization Algorithm, or QAOA, enterprises can solve 'traveling salesperson' problems at a scale previously thought impossible. The ethical dilemma here is </a:t>
            </a:r>
            <a:r>
              <a:rPr lang="en-GB" b="1" dirty="0"/>
              <a:t>Resource Inequality</a:t>
            </a:r>
            <a:r>
              <a:rPr lang="en-GB" dirty="0"/>
              <a:t>. If only the top 1% of enterprises can afford these insights, the competitive gap between global giants and SMEs will become an unbridgeable chasm, potentially stifling market innovation." </a:t>
            </a:r>
          </a:p>
        </p:txBody>
      </p:sp>
      <p:sp>
        <p:nvSpPr>
          <p:cNvPr id="4" name="Slide Number Placeholder 3"/>
          <p:cNvSpPr>
            <a:spLocks noGrp="1"/>
          </p:cNvSpPr>
          <p:nvPr>
            <p:ph type="sldNum" sz="quarter" idx="5"/>
          </p:nvPr>
        </p:nvSpPr>
        <p:spPr/>
        <p:txBody>
          <a:bodyPr/>
          <a:lstStyle/>
          <a:p>
            <a:fld id="{7F9F8012-0316-BF47-8E30-AF29A1EA5F8B}" type="slidenum">
              <a:rPr lang="en-GB" smtClean="0"/>
              <a:t>3</a:t>
            </a:fld>
            <a:endParaRPr lang="en-GB"/>
          </a:p>
        </p:txBody>
      </p:sp>
    </p:spTree>
    <p:extLst>
      <p:ext uri="{BB962C8B-B14F-4D97-AF65-F5344CB8AC3E}">
        <p14:creationId xmlns:p14="http://schemas.microsoft.com/office/powerpoint/2010/main" val="158633366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Script:</a:t>
            </a:r>
            <a:r>
              <a:rPr lang="en-GB" dirty="0"/>
              <a:t> "We must now address the 'Quantum Cryptographic Apocalypse.' Most of our modern security—RSA and Elliptic Curve Cryptography—relies on the mathematical difficulty of factoring large numbers. </a:t>
            </a:r>
            <a:r>
              <a:rPr lang="en-GB" b="1" dirty="0"/>
              <a:t>Shor’s Algorithm</a:t>
            </a:r>
            <a:r>
              <a:rPr lang="en-GB" dirty="0"/>
              <a:t> changes that by factorizing these numbers exponentially faster, effectively breaking the foundation of Public Key Cryptography. This leads to the </a:t>
            </a:r>
            <a:r>
              <a:rPr lang="en-GB" b="1" dirty="0"/>
              <a:t>'Harvest Now, Decrypt Later'</a:t>
            </a:r>
            <a:r>
              <a:rPr lang="en-GB" dirty="0"/>
              <a:t> (HNDL) threat. Adversaries are currently intercepting and storing encrypted diplomatic and financial data, waiting for the day a Cryptographically Relevant Quantum Computer is built to unlock it. For an enterprise, this means your data today is already at risk for the next decade. This threatens not just websites via TLS, but the very integrity of Blockchain ledgers, which rely on ECC for transaction signatures."</a:t>
            </a:r>
          </a:p>
        </p:txBody>
      </p:sp>
      <p:sp>
        <p:nvSpPr>
          <p:cNvPr id="4" name="Slide Number Placeholder 3"/>
          <p:cNvSpPr>
            <a:spLocks noGrp="1"/>
          </p:cNvSpPr>
          <p:nvPr>
            <p:ph type="sldNum" sz="quarter" idx="5"/>
          </p:nvPr>
        </p:nvSpPr>
        <p:spPr/>
        <p:txBody>
          <a:bodyPr/>
          <a:lstStyle/>
          <a:p>
            <a:fld id="{7F9F8012-0316-BF47-8E30-AF29A1EA5F8B}" type="slidenum">
              <a:rPr lang="en-GB" smtClean="0"/>
              <a:t>4</a:t>
            </a:fld>
            <a:endParaRPr lang="en-GB"/>
          </a:p>
        </p:txBody>
      </p:sp>
    </p:spTree>
    <p:extLst>
      <p:ext uri="{BB962C8B-B14F-4D97-AF65-F5344CB8AC3E}">
        <p14:creationId xmlns:p14="http://schemas.microsoft.com/office/powerpoint/2010/main" val="5345549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Script:</a:t>
            </a:r>
            <a:r>
              <a:rPr lang="en-GB" dirty="0"/>
              <a:t> "The </a:t>
            </a:r>
            <a:r>
              <a:rPr lang="en-GB" dirty="0" err="1"/>
              <a:t>defense</a:t>
            </a:r>
            <a:r>
              <a:rPr lang="en-GB" dirty="0"/>
              <a:t> against this is </a:t>
            </a:r>
            <a:r>
              <a:rPr lang="en-GB" b="1" dirty="0"/>
              <a:t>Post-Quantum Cryptography</a:t>
            </a:r>
            <a:r>
              <a:rPr lang="en-GB" dirty="0"/>
              <a:t> (PQC). Unlike quantum hardware, PQC is software-based math—such as Lattice-based cryptography—that is resistant to both classical and quantum attacks. The National Institute of Standards and Technology, or NIST, has standardized algorithms like </a:t>
            </a:r>
            <a:r>
              <a:rPr lang="en-GB" b="1" dirty="0"/>
              <a:t>ML-KEM</a:t>
            </a:r>
            <a:r>
              <a:rPr lang="en-GB" dirty="0"/>
              <a:t> and </a:t>
            </a:r>
            <a:r>
              <a:rPr lang="en-GB" b="1" dirty="0"/>
              <a:t>ML-DSA</a:t>
            </a:r>
            <a:r>
              <a:rPr lang="en-GB" dirty="0"/>
              <a:t>. However, the challenge for enterprises isn't just picking a new algorithm; it's </a:t>
            </a:r>
            <a:r>
              <a:rPr lang="en-GB" b="1" dirty="0"/>
              <a:t>Cryptographic Agility</a:t>
            </a:r>
            <a:r>
              <a:rPr lang="en-GB" dirty="0"/>
              <a:t>. This is the ability of an organization to rapidly swap out security modules without tearing down their entire IT infrastructure. Enterprises must move from a 'set and forget' security mindset to a modular, agile framework. Failure to do so by the mid-2030s, when NIST predicts full deprecation of current standards, could result in total systemic failure."</a:t>
            </a:r>
          </a:p>
        </p:txBody>
      </p:sp>
      <p:sp>
        <p:nvSpPr>
          <p:cNvPr id="4" name="Slide Number Placeholder 3"/>
          <p:cNvSpPr>
            <a:spLocks noGrp="1"/>
          </p:cNvSpPr>
          <p:nvPr>
            <p:ph type="sldNum" sz="quarter" idx="5"/>
          </p:nvPr>
        </p:nvSpPr>
        <p:spPr/>
        <p:txBody>
          <a:bodyPr/>
          <a:lstStyle/>
          <a:p>
            <a:fld id="{7F9F8012-0316-BF47-8E30-AF29A1EA5F8B}" type="slidenum">
              <a:rPr lang="en-GB" smtClean="0"/>
              <a:t>5</a:t>
            </a:fld>
            <a:endParaRPr lang="en-GB"/>
          </a:p>
        </p:txBody>
      </p:sp>
    </p:spTree>
    <p:extLst>
      <p:ext uri="{BB962C8B-B14F-4D97-AF65-F5344CB8AC3E}">
        <p14:creationId xmlns:p14="http://schemas.microsoft.com/office/powerpoint/2010/main" val="157269387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Script:</a:t>
            </a:r>
            <a:r>
              <a:rPr lang="en-GB" dirty="0"/>
              <a:t> "Enterprises must follow the NIST PQC Migration Roadmap. This involves a phased migration where systems holding 'long-lived secrets' are transitioned first. NIST also promotes </a:t>
            </a:r>
            <a:r>
              <a:rPr lang="en-GB" b="1" dirty="0"/>
              <a:t>Algorithm Diversity</a:t>
            </a:r>
            <a:r>
              <a:rPr lang="en-GB" dirty="0"/>
              <a:t>, using Lattice, Hash, and Code-based approaches to ensure that if one mathematical method is later found vulnerable, the entire system doesn't collapse. Furthermore, this transition is mandatory for </a:t>
            </a:r>
            <a:r>
              <a:rPr lang="en-GB" b="1" dirty="0"/>
              <a:t>Blockchain compliance</a:t>
            </a:r>
            <a:r>
              <a:rPr lang="en-GB" dirty="0"/>
              <a:t>, as failing to update ECC signatures would violate global financial security and data integrity standards."</a:t>
            </a:r>
          </a:p>
        </p:txBody>
      </p:sp>
      <p:sp>
        <p:nvSpPr>
          <p:cNvPr id="4" name="Slide Number Placeholder 3"/>
          <p:cNvSpPr>
            <a:spLocks noGrp="1"/>
          </p:cNvSpPr>
          <p:nvPr>
            <p:ph type="sldNum" sz="quarter" idx="5"/>
          </p:nvPr>
        </p:nvSpPr>
        <p:spPr/>
        <p:txBody>
          <a:bodyPr/>
          <a:lstStyle/>
          <a:p>
            <a:fld id="{7F9F8012-0316-BF47-8E30-AF29A1EA5F8B}" type="slidenum">
              <a:rPr lang="en-GB" smtClean="0"/>
              <a:t>6</a:t>
            </a:fld>
            <a:endParaRPr lang="en-GB"/>
          </a:p>
        </p:txBody>
      </p:sp>
    </p:spTree>
    <p:extLst>
      <p:ext uri="{BB962C8B-B14F-4D97-AF65-F5344CB8AC3E}">
        <p14:creationId xmlns:p14="http://schemas.microsoft.com/office/powerpoint/2010/main" val="149705867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Script:</a:t>
            </a:r>
            <a:r>
              <a:rPr lang="en-GB" dirty="0"/>
              <a:t> "Beyond security, we must address ethics. The </a:t>
            </a:r>
            <a:r>
              <a:rPr lang="en-GB" b="1" dirty="0"/>
              <a:t>World Economic Forum</a:t>
            </a:r>
            <a:r>
              <a:rPr lang="en-GB" dirty="0"/>
              <a:t> has established principles for ethical development, focusing on </a:t>
            </a:r>
            <a:r>
              <a:rPr lang="en-GB" b="1" dirty="0"/>
              <a:t>Global Equity</a:t>
            </a:r>
            <a:r>
              <a:rPr lang="en-GB" dirty="0"/>
              <a:t>—ensuring quantum benefits aren't concentrated solely among tech giants and wealthy nations. We also face a </a:t>
            </a:r>
            <a:r>
              <a:rPr lang="en-GB" b="1" dirty="0"/>
              <a:t>GDPR</a:t>
            </a:r>
            <a:r>
              <a:rPr lang="en-GB" dirty="0"/>
              <a:t> challenge. Under Article 5 and 32, data processed by quantum systems must still be fair and secure. If a quantum system fails to handle Personally Identifiable Information correctly, or if its results are a 'black box' that cannot be audited, it constitutes a direct regulatory violation."</a:t>
            </a:r>
          </a:p>
        </p:txBody>
      </p:sp>
      <p:sp>
        <p:nvSpPr>
          <p:cNvPr id="4" name="Slide Number Placeholder 3"/>
          <p:cNvSpPr>
            <a:spLocks noGrp="1"/>
          </p:cNvSpPr>
          <p:nvPr>
            <p:ph type="sldNum" sz="quarter" idx="5"/>
          </p:nvPr>
        </p:nvSpPr>
        <p:spPr/>
        <p:txBody>
          <a:bodyPr/>
          <a:lstStyle/>
          <a:p>
            <a:fld id="{7F9F8012-0316-BF47-8E30-AF29A1EA5F8B}" type="slidenum">
              <a:rPr lang="en-GB" smtClean="0"/>
              <a:t>7</a:t>
            </a:fld>
            <a:endParaRPr lang="en-GB"/>
          </a:p>
        </p:txBody>
      </p:sp>
    </p:spTree>
    <p:extLst>
      <p:ext uri="{BB962C8B-B14F-4D97-AF65-F5344CB8AC3E}">
        <p14:creationId xmlns:p14="http://schemas.microsoft.com/office/powerpoint/2010/main" val="226193841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Script:</a:t>
            </a:r>
            <a:r>
              <a:rPr lang="en-GB" dirty="0"/>
              <a:t> "The societal impact of QC includes the risk of a </a:t>
            </a:r>
            <a:r>
              <a:rPr lang="en-GB" b="1" dirty="0"/>
              <a:t>'Quantum Divide'</a:t>
            </a:r>
            <a:r>
              <a:rPr lang="en-GB" dirty="0"/>
              <a:t>. The financial and human capital required is so high that it may exacerbate socio-economic divides. Additionally, the non-deterministic nature of quantum mechanics makes it difficult to establish </a:t>
            </a:r>
            <a:r>
              <a:rPr lang="en-GB" b="1" dirty="0"/>
              <a:t>accountability</a:t>
            </a:r>
            <a:r>
              <a:rPr lang="en-GB" dirty="0"/>
              <a:t> when errors occur in complex algorithms. To mitigate this, we should adopt </a:t>
            </a:r>
            <a:r>
              <a:rPr lang="en-GB" b="1" dirty="0"/>
              <a:t>'Regulation-by-Application'</a:t>
            </a:r>
            <a:r>
              <a:rPr lang="en-GB" dirty="0"/>
              <a:t>, applying stricter ethical frameworks to high-risk sectors like </a:t>
            </a:r>
            <a:r>
              <a:rPr lang="en-GB" dirty="0" err="1"/>
              <a:t>defense</a:t>
            </a:r>
            <a:r>
              <a:rPr lang="en-GB" dirty="0"/>
              <a:t> and intelligence compared to material science."</a:t>
            </a:r>
          </a:p>
        </p:txBody>
      </p:sp>
      <p:sp>
        <p:nvSpPr>
          <p:cNvPr id="4" name="Slide Number Placeholder 3"/>
          <p:cNvSpPr>
            <a:spLocks noGrp="1"/>
          </p:cNvSpPr>
          <p:nvPr>
            <p:ph type="sldNum" sz="quarter" idx="5"/>
          </p:nvPr>
        </p:nvSpPr>
        <p:spPr/>
        <p:txBody>
          <a:bodyPr/>
          <a:lstStyle/>
          <a:p>
            <a:fld id="{7F9F8012-0316-BF47-8E30-AF29A1EA5F8B}" type="slidenum">
              <a:rPr lang="en-GB" smtClean="0"/>
              <a:t>8</a:t>
            </a:fld>
            <a:endParaRPr lang="en-GB"/>
          </a:p>
        </p:txBody>
      </p:sp>
    </p:spTree>
    <p:extLst>
      <p:ext uri="{BB962C8B-B14F-4D97-AF65-F5344CB8AC3E}">
        <p14:creationId xmlns:p14="http://schemas.microsoft.com/office/powerpoint/2010/main" val="291116836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Script:</a:t>
            </a:r>
            <a:r>
              <a:rPr lang="en-GB" dirty="0"/>
              <a:t> "Our case study focuses on </a:t>
            </a:r>
            <a:r>
              <a:rPr lang="en-GB" b="1" dirty="0"/>
              <a:t>Qubit Instability</a:t>
            </a:r>
            <a:r>
              <a:rPr lang="en-GB" dirty="0"/>
              <a:t>, a major operational bottleneck. We are currently in the </a:t>
            </a:r>
            <a:r>
              <a:rPr lang="en-GB" b="1" dirty="0"/>
              <a:t>NISQ era</a:t>
            </a:r>
            <a:r>
              <a:rPr lang="en-GB" dirty="0"/>
              <a:t>—Noisy Intermediate-Scale Quantum—where noise limits the duration of computations.</a:t>
            </a:r>
          </a:p>
          <a:p>
            <a:r>
              <a:rPr lang="en-GB" dirty="0"/>
              <a:t>By using </a:t>
            </a:r>
            <a:r>
              <a:rPr lang="en-GB" b="1" dirty="0"/>
              <a:t>Machine Learning</a:t>
            </a:r>
            <a:r>
              <a:rPr lang="en-GB" dirty="0"/>
              <a:t> (Bayesian Optimization), researchers achieved a 100x speed increase in qubit calibration. This demonstrates the necessity of </a:t>
            </a:r>
            <a:r>
              <a:rPr lang="en-GB" b="1" dirty="0"/>
              <a:t>hybrid classical-quantum systems</a:t>
            </a:r>
            <a:r>
              <a:rPr lang="en-GB" dirty="0"/>
              <a:t>, where classical AI manages the unstable quantum hardware to pave the way for practical application."</a:t>
            </a:r>
          </a:p>
        </p:txBody>
      </p:sp>
      <p:sp>
        <p:nvSpPr>
          <p:cNvPr id="4" name="Slide Number Placeholder 3"/>
          <p:cNvSpPr>
            <a:spLocks noGrp="1"/>
          </p:cNvSpPr>
          <p:nvPr>
            <p:ph type="sldNum" sz="quarter" idx="5"/>
          </p:nvPr>
        </p:nvSpPr>
        <p:spPr/>
        <p:txBody>
          <a:bodyPr/>
          <a:lstStyle/>
          <a:p>
            <a:fld id="{7F9F8012-0316-BF47-8E30-AF29A1EA5F8B}" type="slidenum">
              <a:rPr lang="en-GB" smtClean="0"/>
              <a:t>9</a:t>
            </a:fld>
            <a:endParaRPr lang="en-GB"/>
          </a:p>
        </p:txBody>
      </p:sp>
    </p:spTree>
    <p:extLst>
      <p:ext uri="{BB962C8B-B14F-4D97-AF65-F5344CB8AC3E}">
        <p14:creationId xmlns:p14="http://schemas.microsoft.com/office/powerpoint/2010/main" val="289713610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Script:</a:t>
            </a:r>
            <a:r>
              <a:rPr lang="en-GB" dirty="0"/>
              <a:t> "In summary, while Quantum Computing offers transformative potential for optimization and discovery, it necessitates a radical rethink of digital security and ethical governance. Enterprises must prioritize cryptographic agility to defend against HNDL threats while adhering to WEF and GDPR principles to ensure equitable and transparent use of this power. On this slide, you will see the comprehensive list of peer-reviewed sources and standards—ranging from NIST’s FIPS 203 to the WEF Governance Principles—that have informed this evaluation . Thank you for your time."</a:t>
            </a:r>
          </a:p>
        </p:txBody>
      </p:sp>
      <p:sp>
        <p:nvSpPr>
          <p:cNvPr id="4" name="Slide Number Placeholder 3"/>
          <p:cNvSpPr>
            <a:spLocks noGrp="1"/>
          </p:cNvSpPr>
          <p:nvPr>
            <p:ph type="sldNum" sz="quarter" idx="5"/>
          </p:nvPr>
        </p:nvSpPr>
        <p:spPr/>
        <p:txBody>
          <a:bodyPr/>
          <a:lstStyle/>
          <a:p>
            <a:fld id="{7F9F8012-0316-BF47-8E30-AF29A1EA5F8B}" type="slidenum">
              <a:rPr lang="en-GB" smtClean="0"/>
              <a:t>10</a:t>
            </a:fld>
            <a:endParaRPr lang="en-GB"/>
          </a:p>
        </p:txBody>
      </p:sp>
    </p:spTree>
    <p:extLst>
      <p:ext uri="{BB962C8B-B14F-4D97-AF65-F5344CB8AC3E}">
        <p14:creationId xmlns:p14="http://schemas.microsoft.com/office/powerpoint/2010/main" val="2521856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751012" y="609601"/>
            <a:ext cx="8676222" cy="3200400"/>
          </a:xfrm>
        </p:spPr>
        <p:txBody>
          <a:bodyPr anchor="b">
            <a:normAutofit/>
          </a:bodyPr>
          <a:lstStyle>
            <a:lvl1pPr algn="ctr">
              <a:defRPr sz="4800">
                <a:effectLst>
                  <a:glow rad="38100">
                    <a:schemeClr val="bg1">
                      <a:lumMod val="65000"/>
                      <a:lumOff val="35000"/>
                      <a:alpha val="50000"/>
                    </a:schemeClr>
                  </a:glow>
                  <a:outerShdw blurRad="28575" dist="31750" dir="13200000" algn="tl" rotWithShape="0">
                    <a:srgbClr val="000000">
                      <a:alpha val="25000"/>
                    </a:srgbClr>
                  </a:outerShdw>
                </a:effectLst>
              </a:defRPr>
            </a:lvl1pPr>
          </a:lstStyle>
          <a:p>
            <a:r>
              <a:rPr lang="en-GB"/>
              <a:t>Click to edit Master title style</a:t>
            </a:r>
            <a:endParaRPr lang="en-US" dirty="0"/>
          </a:p>
        </p:txBody>
      </p:sp>
      <p:sp>
        <p:nvSpPr>
          <p:cNvPr id="3" name="Subtitle 2"/>
          <p:cNvSpPr>
            <a:spLocks noGrp="1"/>
          </p:cNvSpPr>
          <p:nvPr>
            <p:ph type="subTitle" idx="1"/>
          </p:nvPr>
        </p:nvSpPr>
        <p:spPr>
          <a:xfrm>
            <a:off x="1751012" y="3886200"/>
            <a:ext cx="8676222" cy="1905000"/>
          </a:xfrm>
        </p:spPr>
        <p:txBody>
          <a:bodyPr anchor="t">
            <a:normAutofit/>
          </a:bodyPr>
          <a:lstStyle>
            <a:lvl1pPr marL="0" indent="0" algn="ctr">
              <a:buNone/>
              <a:defRPr sz="2100">
                <a:gradFill flip="none" rotWithShape="1">
                  <a:gsLst>
                    <a:gs pos="0">
                      <a:schemeClr val="tx1"/>
                    </a:gs>
                    <a:gs pos="100000">
                      <a:schemeClr val="tx1">
                        <a:lumMod val="75000"/>
                      </a:schemeClr>
                    </a:gs>
                  </a:gsLst>
                  <a:lin ang="5400000" scaled="0"/>
                  <a:tileRect/>
                </a:gra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1/2/26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nchor="ct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1/2/26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751013" y="3308581"/>
            <a:ext cx="8686800" cy="1468800"/>
          </a:xfrm>
        </p:spPr>
        <p:txBody>
          <a:bodyPr anchor="b"/>
          <a:lstStyle>
            <a:lvl1pPr algn="r">
              <a:defRPr sz="4000" b="0" cap="all"/>
            </a:lvl1pPr>
          </a:lstStyle>
          <a:p>
            <a:r>
              <a:rPr lang="en-GB"/>
              <a:t>Click to edit Master title style</a:t>
            </a:r>
            <a:endParaRPr lang="en-US" dirty="0"/>
          </a:p>
        </p:txBody>
      </p:sp>
      <p:sp>
        <p:nvSpPr>
          <p:cNvPr id="3" name="Text Placeholder 2"/>
          <p:cNvSpPr>
            <a:spLocks noGrp="1"/>
          </p:cNvSpPr>
          <p:nvPr>
            <p:ph type="body" idx="1"/>
          </p:nvPr>
        </p:nvSpPr>
        <p:spPr>
          <a:xfrm>
            <a:off x="1751011" y="4777381"/>
            <a:ext cx="8686801" cy="860400"/>
          </a:xfrm>
        </p:spPr>
        <p:txBody>
          <a:bodyPr anchor="t">
            <a:normAutofit/>
          </a:bodyPr>
          <a:lstStyle>
            <a:lvl1pPr marL="0" indent="0" algn="r">
              <a:buNone/>
              <a:defRPr sz="20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1/2/26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1141412" y="2666999"/>
            <a:ext cx="4876800"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6170612" y="2667000"/>
            <a:ext cx="4876800"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1/2/26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dirty="0"/>
          </a:p>
        </p:txBody>
      </p:sp>
      <p:sp>
        <p:nvSpPr>
          <p:cNvPr id="3" name="Text Placeholder 2"/>
          <p:cNvSpPr>
            <a:spLocks noGrp="1"/>
          </p:cNvSpPr>
          <p:nvPr>
            <p:ph type="body" idx="1"/>
          </p:nvPr>
        </p:nvSpPr>
        <p:spPr>
          <a:xfrm>
            <a:off x="1429280" y="2658533"/>
            <a:ext cx="4588931"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1141412" y="3243262"/>
            <a:ext cx="4876800" cy="2547937"/>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6443133" y="2667000"/>
            <a:ext cx="4604280"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70612" y="3243262"/>
            <a:ext cx="4876801" cy="2547937"/>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1/2/26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1/2/26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1/2/26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1" y="1600200"/>
            <a:ext cx="3549121" cy="1371600"/>
          </a:xfrm>
        </p:spPr>
        <p:txBody>
          <a:bodyPr anchor="b">
            <a:normAutofit/>
          </a:bodyPr>
          <a:lstStyle>
            <a:lvl1pPr algn="l">
              <a:defRPr sz="2400" b="0"/>
            </a:lvl1pPr>
          </a:lstStyle>
          <a:p>
            <a:r>
              <a:rPr lang="en-GB"/>
              <a:t>Click to edit Master title style</a:t>
            </a:r>
            <a:endParaRPr lang="en-US" dirty="0"/>
          </a:p>
        </p:txBody>
      </p:sp>
      <p:sp>
        <p:nvSpPr>
          <p:cNvPr id="3" name="Content Placeholder 2"/>
          <p:cNvSpPr>
            <a:spLocks noGrp="1"/>
          </p:cNvSpPr>
          <p:nvPr>
            <p:ph idx="1"/>
          </p:nvPr>
        </p:nvSpPr>
        <p:spPr>
          <a:xfrm>
            <a:off x="5103812" y="609601"/>
            <a:ext cx="5943601" cy="51816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1141411" y="2971800"/>
            <a:ext cx="3549121" cy="1828800"/>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1/2/26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1" y="1600200"/>
            <a:ext cx="5334001" cy="1371600"/>
          </a:xfrm>
        </p:spPr>
        <p:txBody>
          <a:bodyPr anchor="b">
            <a:normAutofit/>
          </a:bodyPr>
          <a:lstStyle>
            <a:lvl1pPr algn="l">
              <a:defRPr sz="2800" b="0"/>
            </a:lvl1pPr>
          </a:lstStyle>
          <a:p>
            <a:r>
              <a:rPr lang="en-GB"/>
              <a:t>Click to edit Master title style</a:t>
            </a:r>
            <a:endParaRPr lang="en-US" dirty="0"/>
          </a:p>
        </p:txBody>
      </p:sp>
      <p:sp>
        <p:nvSpPr>
          <p:cNvPr id="14" name="Picture Placeholder 2"/>
          <p:cNvSpPr>
            <a:spLocks noGrp="1" noChangeAspect="1"/>
          </p:cNvSpPr>
          <p:nvPr>
            <p:ph type="pic" idx="1"/>
          </p:nvPr>
        </p:nvSpPr>
        <p:spPr>
          <a:xfrm>
            <a:off x="7433733" y="-18288"/>
            <a:ext cx="3276599" cy="6903720"/>
          </a:xfrm>
          <a:ln w="38100">
            <a:gradFill flip="none" rotWithShape="1">
              <a:gsLst>
                <a:gs pos="0">
                  <a:schemeClr val="bg2"/>
                </a:gs>
                <a:gs pos="100000">
                  <a:schemeClr val="bg2">
                    <a:lumMod val="75000"/>
                  </a:schemeClr>
                </a:gs>
              </a:gsLst>
              <a:lin ang="5400000" scaled="0"/>
              <a:tileRect/>
            </a:gradFill>
          </a:ln>
          <a:effectLst>
            <a:innerShdw blurRad="57150" dist="38100" dir="1080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4" name="Text Placeholder 3"/>
          <p:cNvSpPr>
            <a:spLocks noGrp="1"/>
          </p:cNvSpPr>
          <p:nvPr>
            <p:ph type="body" sz="half" idx="2"/>
          </p:nvPr>
        </p:nvSpPr>
        <p:spPr>
          <a:xfrm>
            <a:off x="1141411" y="2971800"/>
            <a:ext cx="5334001" cy="1828800"/>
          </a:xfrm>
        </p:spPr>
        <p:txBody>
          <a:bodyP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a:xfrm>
            <a:off x="6399212" y="5883275"/>
            <a:ext cx="914400" cy="365125"/>
          </a:xfrm>
        </p:spPr>
        <p:txBody>
          <a:bodyPr/>
          <a:lstStyle/>
          <a:p>
            <a:fld id="{B61BEF0D-F0BB-DE4B-95CE-6DB70DBA9567}" type="datetimeFigureOut">
              <a:rPr lang="en-US" dirty="0"/>
              <a:pPr/>
              <a:t>1/2/26</a:t>
            </a:fld>
            <a:endParaRPr lang="en-US" dirty="0"/>
          </a:p>
        </p:txBody>
      </p:sp>
      <p:sp>
        <p:nvSpPr>
          <p:cNvPr id="6" name="Footer Placeholder 5"/>
          <p:cNvSpPr>
            <a:spLocks noGrp="1"/>
          </p:cNvSpPr>
          <p:nvPr>
            <p:ph type="ftr" sz="quarter" idx="11"/>
          </p:nvPr>
        </p:nvSpPr>
        <p:spPr>
          <a:xfrm>
            <a:off x="1141412" y="5883275"/>
            <a:ext cx="5105400" cy="365125"/>
          </a:xfrm>
        </p:spPr>
        <p:txBody>
          <a:bodyPr/>
          <a:lstStyle/>
          <a:p>
            <a:endParaRPr lang="en-US" dirty="0"/>
          </a:p>
        </p:txBody>
      </p:sp>
      <p:sp>
        <p:nvSpPr>
          <p:cNvPr id="7" name="Slide Number Placeholder 6"/>
          <p:cNvSpPr>
            <a:spLocks noGrp="1"/>
          </p:cNvSpPr>
          <p:nvPr>
            <p:ph type="sldNum" sz="quarter" idx="12"/>
          </p:nvPr>
        </p:nvSpPr>
        <p:spPr>
          <a:xfrm>
            <a:off x="10742612" y="5883275"/>
            <a:ext cx="3225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4732865"/>
            <a:ext cx="9906000" cy="566738"/>
          </a:xfrm>
        </p:spPr>
        <p:txBody>
          <a:bodyPr anchor="b">
            <a:normAutofit/>
          </a:bodyPr>
          <a:lstStyle>
            <a:lvl1pPr algn="l">
              <a:defRPr sz="2400" b="0"/>
            </a:lvl1pPr>
          </a:lstStyle>
          <a:p>
            <a:r>
              <a:rPr lang="en-GB"/>
              <a:t>Click to edit Master title style</a:t>
            </a:r>
            <a:endParaRPr lang="en-US" dirty="0"/>
          </a:p>
        </p:txBody>
      </p:sp>
      <p:sp>
        <p:nvSpPr>
          <p:cNvPr id="3" name="Picture Placeholder 2"/>
          <p:cNvSpPr>
            <a:spLocks noGrp="1" noChangeAspect="1"/>
          </p:cNvSpPr>
          <p:nvPr>
            <p:ph type="pic" idx="1"/>
          </p:nvPr>
        </p:nvSpPr>
        <p:spPr>
          <a:xfrm>
            <a:off x="19796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4" name="Text Placeholder 3"/>
          <p:cNvSpPr>
            <a:spLocks noGrp="1"/>
          </p:cNvSpPr>
          <p:nvPr>
            <p:ph type="body" sz="half" idx="2"/>
          </p:nvPr>
        </p:nvSpPr>
        <p:spPr>
          <a:xfrm>
            <a:off x="1141413" y="5299603"/>
            <a:ext cx="9906000" cy="493712"/>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1/2/26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2" y="609601"/>
            <a:ext cx="9905999" cy="3124199"/>
          </a:xfrm>
        </p:spPr>
        <p:txBody>
          <a:bodyPr anchor="ctr">
            <a:normAutofit/>
          </a:bodyPr>
          <a:lstStyle>
            <a:lvl1pPr algn="l">
              <a:defRPr sz="3200" b="0" cap="all"/>
            </a:lvl1pPr>
          </a:lstStyle>
          <a:p>
            <a:r>
              <a:rPr lang="en-GB"/>
              <a:t>Click to edit Master title style</a:t>
            </a:r>
            <a:endParaRPr lang="en-US" dirty="0"/>
          </a:p>
        </p:txBody>
      </p:sp>
      <p:sp>
        <p:nvSpPr>
          <p:cNvPr id="3" name="Text Placeholder 2"/>
          <p:cNvSpPr>
            <a:spLocks noGrp="1"/>
          </p:cNvSpPr>
          <p:nvPr>
            <p:ph type="body" idx="1"/>
          </p:nvPr>
        </p:nvSpPr>
        <p:spPr>
          <a:xfrm>
            <a:off x="1141411" y="4343400"/>
            <a:ext cx="9906000" cy="1447800"/>
          </a:xfrm>
        </p:spPr>
        <p:txBody>
          <a:bodyPr anchor="ctr">
            <a:normAutofit/>
          </a:bodyPr>
          <a:lstStyle>
            <a:lvl1pPr marL="0" indent="0" algn="l">
              <a:buNone/>
              <a:defRPr sz="20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1/2/26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836612" y="7868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accent1"/>
                </a:solidFill>
              </a:rPr>
              <a:t>“</a:t>
            </a:r>
          </a:p>
        </p:txBody>
      </p:sp>
      <p:sp>
        <p:nvSpPr>
          <p:cNvPr id="15" name="TextBox 14"/>
          <p:cNvSpPr txBox="1"/>
          <p:nvPr/>
        </p:nvSpPr>
        <p:spPr>
          <a:xfrm>
            <a:off x="10437812"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accent1"/>
                </a:solidFill>
              </a:rPr>
              <a:t>”</a:t>
            </a:r>
          </a:p>
        </p:txBody>
      </p:sp>
      <p:sp>
        <p:nvSpPr>
          <p:cNvPr id="2" name="Title 1"/>
          <p:cNvSpPr>
            <a:spLocks noGrp="1"/>
          </p:cNvSpPr>
          <p:nvPr>
            <p:ph type="title"/>
          </p:nvPr>
        </p:nvSpPr>
        <p:spPr>
          <a:xfrm>
            <a:off x="1446213" y="609601"/>
            <a:ext cx="9296398" cy="2743199"/>
          </a:xfrm>
        </p:spPr>
        <p:txBody>
          <a:bodyPr anchor="ctr">
            <a:normAutofit/>
          </a:bodyPr>
          <a:lstStyle>
            <a:lvl1pPr algn="l">
              <a:defRPr sz="3200" b="0" cap="all">
                <a:solidFill>
                  <a:schemeClr val="tx1"/>
                </a:solidFill>
              </a:defRPr>
            </a:lvl1pPr>
          </a:lstStyle>
          <a:p>
            <a:r>
              <a:rPr lang="en-GB"/>
              <a:t>Click to edit Master title style</a:t>
            </a:r>
            <a:endParaRPr lang="en-US" dirty="0"/>
          </a:p>
        </p:txBody>
      </p:sp>
      <p:sp>
        <p:nvSpPr>
          <p:cNvPr id="10" name="Text Placeholder 9"/>
          <p:cNvSpPr>
            <a:spLocks noGrp="1"/>
          </p:cNvSpPr>
          <p:nvPr>
            <p:ph type="body" sz="quarter" idx="13"/>
          </p:nvPr>
        </p:nvSpPr>
        <p:spPr>
          <a:xfrm>
            <a:off x="1674812" y="3352800"/>
            <a:ext cx="8839202"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GB"/>
              <a:t>Click to edit Master text styles</a:t>
            </a:r>
          </a:p>
        </p:txBody>
      </p:sp>
      <p:sp>
        <p:nvSpPr>
          <p:cNvPr id="3" name="Text Placeholder 2"/>
          <p:cNvSpPr>
            <a:spLocks noGrp="1"/>
          </p:cNvSpPr>
          <p:nvPr>
            <p:ph type="body" idx="1"/>
          </p:nvPr>
        </p:nvSpPr>
        <p:spPr>
          <a:xfrm>
            <a:off x="1141411" y="4343400"/>
            <a:ext cx="9906000" cy="1447800"/>
          </a:xfrm>
        </p:spPr>
        <p:txBody>
          <a:bodyPr vert="horz" lIns="91440" tIns="45720" rIns="91440" bIns="45720" rtlCol="0" anchor="ctr">
            <a:normAutofit/>
          </a:bodyPr>
          <a:lstStyle>
            <a:lvl1pPr>
              <a:buNone/>
              <a:defRPr lang="en-US" sz="2000">
                <a:gradFill flip="none" rotWithShape="1">
                  <a:gsLst>
                    <a:gs pos="0">
                      <a:schemeClr val="tx1"/>
                    </a:gs>
                    <a:gs pos="100000">
                      <a:schemeClr val="tx1">
                        <a:lumMod val="75000"/>
                      </a:schemeClr>
                    </a:gs>
                  </a:gsLst>
                  <a:lin ang="5400000" scaled="0"/>
                  <a:tileRect/>
                </a:gradFill>
              </a:defRPr>
            </a:lvl1pPr>
          </a:lstStyle>
          <a:p>
            <a:pPr marL="0" lvl="0" indent="0">
              <a:buNone/>
            </a:pPr>
            <a:r>
              <a:rPr lang="en-GB"/>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1/2/26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2" y="3308581"/>
            <a:ext cx="9906000" cy="1468800"/>
          </a:xfrm>
        </p:spPr>
        <p:txBody>
          <a:bodyPr anchor="b">
            <a:normAutofit/>
          </a:bodyPr>
          <a:lstStyle>
            <a:lvl1pPr algn="l">
              <a:defRPr sz="3200" b="0" cap="all"/>
            </a:lvl1pPr>
          </a:lstStyle>
          <a:p>
            <a:r>
              <a:rPr lang="en-GB"/>
              <a:t>Click to edit Master title style</a:t>
            </a:r>
            <a:endParaRPr lang="en-US" dirty="0"/>
          </a:p>
        </p:txBody>
      </p:sp>
      <p:sp>
        <p:nvSpPr>
          <p:cNvPr id="3" name="Text Placeholder 2"/>
          <p:cNvSpPr>
            <a:spLocks noGrp="1"/>
          </p:cNvSpPr>
          <p:nvPr>
            <p:ph type="body" idx="1"/>
          </p:nvPr>
        </p:nvSpPr>
        <p:spPr>
          <a:xfrm>
            <a:off x="1141410" y="4777381"/>
            <a:ext cx="9906001" cy="860400"/>
          </a:xfrm>
        </p:spPr>
        <p:txBody>
          <a:bodyPr vert="horz" lIns="91440" tIns="45720" rIns="91440" bIns="45720" rtlCol="0" anchor="t">
            <a:normAutofit/>
          </a:bodyPr>
          <a:lstStyle>
            <a:lvl1pPr>
              <a:defRPr lang="en-US" sz="2000">
                <a:gradFill flip="none" rotWithShape="1">
                  <a:gsLst>
                    <a:gs pos="0">
                      <a:schemeClr val="tx1"/>
                    </a:gs>
                    <a:gs pos="100000">
                      <a:schemeClr val="tx1">
                        <a:lumMod val="75000"/>
                      </a:schemeClr>
                    </a:gs>
                  </a:gsLst>
                  <a:lin ang="5400000" scaled="0"/>
                  <a:tileRect/>
                </a:gradFill>
              </a:defRPr>
            </a:lvl1pPr>
          </a:lstStyle>
          <a:p>
            <a:pPr marL="0" lvl="0" indent="0">
              <a:buNone/>
            </a:pPr>
            <a:r>
              <a:rPr lang="en-GB"/>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1/2/26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836612" y="7868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accent1"/>
                </a:solidFill>
              </a:rPr>
              <a:t>“</a:t>
            </a:r>
          </a:p>
        </p:txBody>
      </p:sp>
      <p:sp>
        <p:nvSpPr>
          <p:cNvPr id="15" name="TextBox 14"/>
          <p:cNvSpPr txBox="1"/>
          <p:nvPr/>
        </p:nvSpPr>
        <p:spPr>
          <a:xfrm>
            <a:off x="10437812"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accent1"/>
                </a:solidFill>
              </a:rPr>
              <a:t>”</a:t>
            </a:r>
          </a:p>
        </p:txBody>
      </p:sp>
      <p:sp>
        <p:nvSpPr>
          <p:cNvPr id="2" name="Title 1"/>
          <p:cNvSpPr>
            <a:spLocks noGrp="1"/>
          </p:cNvSpPr>
          <p:nvPr>
            <p:ph type="title"/>
          </p:nvPr>
        </p:nvSpPr>
        <p:spPr>
          <a:xfrm>
            <a:off x="1446213" y="609601"/>
            <a:ext cx="9296398" cy="2743199"/>
          </a:xfrm>
        </p:spPr>
        <p:txBody>
          <a:bodyPr anchor="ctr">
            <a:normAutofit/>
          </a:bodyPr>
          <a:lstStyle>
            <a:lvl1pPr algn="l">
              <a:defRPr sz="3200" b="0" cap="all">
                <a:gradFill flip="none" rotWithShape="1">
                  <a:gsLst>
                    <a:gs pos="0">
                      <a:schemeClr val="tx1"/>
                    </a:gs>
                    <a:gs pos="100000">
                      <a:schemeClr val="tx1">
                        <a:lumMod val="75000"/>
                      </a:schemeClr>
                    </a:gs>
                  </a:gsLst>
                  <a:lin ang="5400000" scaled="0"/>
                  <a:tileRect/>
                </a:gradFill>
              </a:defRPr>
            </a:lvl1pPr>
          </a:lstStyle>
          <a:p>
            <a:r>
              <a:rPr lang="en-GB"/>
              <a:t>Click to edit Master title style</a:t>
            </a:r>
            <a:endParaRPr lang="en-US" dirty="0"/>
          </a:p>
        </p:txBody>
      </p:sp>
      <p:sp>
        <p:nvSpPr>
          <p:cNvPr id="10" name="Text Placeholder 9"/>
          <p:cNvSpPr>
            <a:spLocks noGrp="1"/>
          </p:cNvSpPr>
          <p:nvPr>
            <p:ph type="body" sz="quarter" idx="13"/>
          </p:nvPr>
        </p:nvSpPr>
        <p:spPr>
          <a:xfrm>
            <a:off x="1141412" y="3886200"/>
            <a:ext cx="9906000" cy="889000"/>
          </a:xfrm>
        </p:spPr>
        <p:txBody>
          <a:bodyPr vert="horz" lIns="91440" tIns="45720" rIns="91440" bIns="45720" rtlCol="0" anchor="b">
            <a:normAutofit/>
          </a:bodyPr>
          <a:lstStyle>
            <a:lvl1pPr>
              <a:buNone/>
              <a:defRPr lang="en-US" sz="2400" b="0" cap="all" dirty="0">
                <a:ln w="3175" cmpd="sng">
                  <a:noFill/>
                </a:ln>
                <a:gradFill flip="none" rotWithShape="1">
                  <a:gsLst>
                    <a:gs pos="0">
                      <a:schemeClr val="tx1"/>
                    </a:gs>
                    <a:gs pos="100000">
                      <a:schemeClr val="tx1">
                        <a:lumMod val="75000"/>
                      </a:schemeClr>
                    </a:gs>
                  </a:gsLst>
                  <a:lin ang="5400000" scaled="0"/>
                  <a:tileRect/>
                </a:gradFill>
                <a:effectLst>
                  <a:glow rad="38100">
                    <a:schemeClr val="bg1">
                      <a:lumMod val="65000"/>
                      <a:lumOff val="35000"/>
                      <a:alpha val="40000"/>
                    </a:schemeClr>
                  </a:glow>
                  <a:outerShdw blurRad="28575" dist="38100" dir="14040000" algn="tl" rotWithShape="0">
                    <a:srgbClr val="000000">
                      <a:alpha val="25000"/>
                    </a:srgbClr>
                  </a:outerShdw>
                </a:effectLst>
              </a:defRPr>
            </a:lvl1pPr>
          </a:lstStyle>
          <a:p>
            <a:pPr marL="0" lvl="0">
              <a:spcBef>
                <a:spcPct val="0"/>
              </a:spcBef>
              <a:buNone/>
            </a:pPr>
            <a:r>
              <a:rPr lang="en-GB"/>
              <a:t>Click to edit Master text styles</a:t>
            </a:r>
          </a:p>
        </p:txBody>
      </p:sp>
      <p:sp>
        <p:nvSpPr>
          <p:cNvPr id="3" name="Text Placeholder 2"/>
          <p:cNvSpPr>
            <a:spLocks noGrp="1"/>
          </p:cNvSpPr>
          <p:nvPr>
            <p:ph type="body" idx="1"/>
          </p:nvPr>
        </p:nvSpPr>
        <p:spPr>
          <a:xfrm>
            <a:off x="1141411" y="4775200"/>
            <a:ext cx="9906000" cy="1016000"/>
          </a:xfrm>
        </p:spPr>
        <p:txBody>
          <a:bodyPr anchor="t">
            <a:normAutofit/>
          </a:bodyPr>
          <a:lstStyle>
            <a:lvl1pPr marL="0" indent="0" algn="l">
              <a:buNone/>
              <a:defRPr sz="18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1/2/26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141412" y="609601"/>
            <a:ext cx="9905999" cy="2743199"/>
          </a:xfrm>
        </p:spPr>
        <p:txBody>
          <a:bodyPr vert="horz" lIns="91440" tIns="45720" rIns="91440" bIns="45720" rtlCol="0" anchor="ctr">
            <a:normAutofit/>
          </a:bodyPr>
          <a:lstStyle>
            <a:lvl1pPr>
              <a:defRPr lang="en-US" b="0" dirty="0"/>
            </a:lvl1pPr>
          </a:lstStyle>
          <a:p>
            <a:pPr marL="0" lvl="0"/>
            <a:r>
              <a:rPr lang="en-GB"/>
              <a:t>Click to edit Master title style</a:t>
            </a:r>
            <a:endParaRPr lang="en-US" dirty="0"/>
          </a:p>
        </p:txBody>
      </p:sp>
      <p:sp>
        <p:nvSpPr>
          <p:cNvPr id="10" name="Text Placeholder 9"/>
          <p:cNvSpPr>
            <a:spLocks noGrp="1"/>
          </p:cNvSpPr>
          <p:nvPr>
            <p:ph type="body" sz="quarter" idx="13"/>
          </p:nvPr>
        </p:nvSpPr>
        <p:spPr>
          <a:xfrm>
            <a:off x="1141412" y="3505200"/>
            <a:ext cx="9906000" cy="838200"/>
          </a:xfrm>
        </p:spPr>
        <p:txBody>
          <a:bodyPr vert="horz" lIns="91440" tIns="45720" rIns="91440" bIns="45720" rtlCol="0" anchor="b">
            <a:normAutofit/>
          </a:bodyPr>
          <a:lstStyle>
            <a:lvl1pPr>
              <a:buNone/>
              <a:defRPr lang="en-US" sz="2800" b="0" cap="all" dirty="0">
                <a:ln w="3175" cmpd="sng">
                  <a:noFill/>
                </a:ln>
                <a:gradFill flip="none" rotWithShape="1">
                  <a:gsLst>
                    <a:gs pos="0">
                      <a:schemeClr val="tx1"/>
                    </a:gs>
                    <a:gs pos="100000">
                      <a:schemeClr val="tx1">
                        <a:lumMod val="75000"/>
                      </a:schemeClr>
                    </a:gs>
                  </a:gsLst>
                  <a:lin ang="5400000" scaled="0"/>
                  <a:tileRect/>
                </a:gradFill>
                <a:effectLst>
                  <a:glow rad="38100">
                    <a:schemeClr val="bg1">
                      <a:lumMod val="65000"/>
                      <a:lumOff val="35000"/>
                      <a:alpha val="40000"/>
                    </a:schemeClr>
                  </a:glow>
                  <a:outerShdw blurRad="28575" dist="38100" dir="14040000" algn="tl" rotWithShape="0">
                    <a:srgbClr val="000000">
                      <a:alpha val="25000"/>
                    </a:srgbClr>
                  </a:outerShdw>
                </a:effectLst>
              </a:defRPr>
            </a:lvl1pPr>
          </a:lstStyle>
          <a:p>
            <a:pPr marL="0" lvl="0">
              <a:spcBef>
                <a:spcPct val="0"/>
              </a:spcBef>
              <a:buNone/>
            </a:pPr>
            <a:r>
              <a:rPr lang="en-GB"/>
              <a:t>Click to edit Master text styles</a:t>
            </a:r>
          </a:p>
        </p:txBody>
      </p:sp>
      <p:sp>
        <p:nvSpPr>
          <p:cNvPr id="3" name="Text Placeholder 2"/>
          <p:cNvSpPr>
            <a:spLocks noGrp="1"/>
          </p:cNvSpPr>
          <p:nvPr>
            <p:ph type="body" idx="1"/>
          </p:nvPr>
        </p:nvSpPr>
        <p:spPr>
          <a:xfrm>
            <a:off x="1141411" y="4343400"/>
            <a:ext cx="9906000" cy="1447800"/>
          </a:xfrm>
        </p:spPr>
        <p:txBody>
          <a:bodyPr anchor="t">
            <a:normAutofit/>
          </a:bodyPr>
          <a:lstStyle>
            <a:lvl1pPr marL="0" indent="0" algn="l">
              <a:buNone/>
              <a:defRPr sz="18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1/2/26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Title 1"/>
          <p:cNvSpPr>
            <a:spLocks noGrp="1"/>
          </p:cNvSpPr>
          <p:nvPr>
            <p:ph type="title"/>
          </p:nvPr>
        </p:nvSpPr>
        <p:spPr>
          <a:xfrm>
            <a:off x="1141413" y="609600"/>
            <a:ext cx="9905998" cy="1905000"/>
          </a:xfrm>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1/2/26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6898" y="609599"/>
            <a:ext cx="2210514" cy="5181601"/>
          </a:xfrm>
        </p:spPr>
        <p:txBody>
          <a:bodyPr vert="eaVert"/>
          <a:lstStyle/>
          <a:p>
            <a:r>
              <a:rPr lang="en-GB"/>
              <a:t>Click to edit Master title style</a:t>
            </a:r>
            <a:endParaRPr lang="en-US" dirty="0"/>
          </a:p>
        </p:txBody>
      </p:sp>
      <p:sp>
        <p:nvSpPr>
          <p:cNvPr id="3" name="Vertical Text Placeholder 2"/>
          <p:cNvSpPr>
            <a:spLocks noGrp="1"/>
          </p:cNvSpPr>
          <p:nvPr>
            <p:ph type="body" orient="vert" idx="1"/>
          </p:nvPr>
        </p:nvSpPr>
        <p:spPr>
          <a:xfrm>
            <a:off x="1141412" y="609600"/>
            <a:ext cx="7543800" cy="5181600"/>
          </a:xfrm>
        </p:spPr>
        <p:txBody>
          <a:bodyPr vert="eaVert" ancho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1/2/26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141413" y="609600"/>
            <a:ext cx="9905998" cy="1905000"/>
          </a:xfrm>
          <a:prstGeom prst="rect">
            <a:avLst/>
          </a:prstGeom>
        </p:spPr>
        <p:txBody>
          <a:bodyPr vert="horz" lIns="91440" tIns="45720" rIns="91440" bIns="45720" rtlCol="0" anchor="ctr">
            <a:normAutofit/>
          </a:bodyPr>
          <a:lstStyle/>
          <a:p>
            <a:r>
              <a:rPr lang="en-GB"/>
              <a:t>Click to edit Master title style</a:t>
            </a:r>
            <a:endParaRPr lang="en-US" dirty="0"/>
          </a:p>
        </p:txBody>
      </p:sp>
      <p:sp>
        <p:nvSpPr>
          <p:cNvPr id="3" name="Text Placeholder 2"/>
          <p:cNvSpPr>
            <a:spLocks noGrp="1"/>
          </p:cNvSpPr>
          <p:nvPr>
            <p:ph type="body" idx="1"/>
          </p:nvPr>
        </p:nvSpPr>
        <p:spPr>
          <a:xfrm>
            <a:off x="1141413" y="2666999"/>
            <a:ext cx="9905998" cy="3124201"/>
          </a:xfrm>
          <a:prstGeom prst="rect">
            <a:avLst/>
          </a:prstGeom>
        </p:spPr>
        <p:txBody>
          <a:bodyPr vert="horz" lIns="91440" tIns="45720" rIns="91440" bIns="45720" rtlCol="0" anchor="ct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8837612" y="5883275"/>
            <a:ext cx="1600200" cy="365125"/>
          </a:xfrm>
          <a:prstGeom prst="rect">
            <a:avLst/>
          </a:prstGeom>
        </p:spPr>
        <p:txBody>
          <a:bodyPr vert="horz" lIns="91440" tIns="45720" rIns="91440" bIns="45720" rtlCol="0" anchor="ctr"/>
          <a:lstStyle>
            <a:lvl1pPr algn="r">
              <a:defRPr sz="900" b="1" i="0">
                <a:solidFill>
                  <a:schemeClr val="tx1">
                    <a:lumMod val="75000"/>
                  </a:schemeClr>
                </a:solidFill>
                <a:effectLst>
                  <a:outerShdw blurRad="50800" dist="38100" dir="2700000" algn="tl" rotWithShape="0">
                    <a:srgbClr val="000000">
                      <a:alpha val="43000"/>
                    </a:srgbClr>
                  </a:outerShdw>
                </a:effectLst>
                <a:latin typeface="+mn-lt"/>
              </a:defRPr>
            </a:lvl1pPr>
          </a:lstStyle>
          <a:p>
            <a:fld id="{B61BEF0D-F0BB-DE4B-95CE-6DB70DBA9567}" type="datetimeFigureOut">
              <a:rPr lang="en-US" dirty="0"/>
              <a:pPr/>
              <a:t>1/2/26</a:t>
            </a:fld>
            <a:endParaRPr lang="en-US" dirty="0"/>
          </a:p>
        </p:txBody>
      </p:sp>
      <p:sp>
        <p:nvSpPr>
          <p:cNvPr id="5" name="Footer Placeholder 4"/>
          <p:cNvSpPr>
            <a:spLocks noGrp="1"/>
          </p:cNvSpPr>
          <p:nvPr>
            <p:ph type="ftr" sz="quarter" idx="3"/>
          </p:nvPr>
        </p:nvSpPr>
        <p:spPr>
          <a:xfrm>
            <a:off x="1141412" y="5883275"/>
            <a:ext cx="7543800" cy="365125"/>
          </a:xfrm>
          <a:prstGeom prst="rect">
            <a:avLst/>
          </a:prstGeom>
        </p:spPr>
        <p:txBody>
          <a:bodyPr vert="horz" lIns="91440" tIns="45720" rIns="91440" bIns="45720" rtlCol="0" anchor="ctr"/>
          <a:lstStyle>
            <a:lvl1pPr algn="l">
              <a:defRPr sz="900" b="1" i="0">
                <a:solidFill>
                  <a:schemeClr val="tx1">
                    <a:lumMod val="75000"/>
                  </a:schemeClr>
                </a:solidFill>
                <a:effectLst>
                  <a:outerShdw blurRad="50800" dist="38100" dir="2700000" algn="tl" rotWithShape="0">
                    <a:srgbClr val="000000">
                      <a:alpha val="43000"/>
                    </a:srgbClr>
                  </a:outerShdw>
                </a:effectLst>
                <a:latin typeface="+mn-lt"/>
              </a:defRPr>
            </a:lvl1pPr>
          </a:lstStyle>
          <a:p>
            <a:endParaRPr lang="en-US" dirty="0"/>
          </a:p>
        </p:txBody>
      </p:sp>
      <p:sp>
        <p:nvSpPr>
          <p:cNvPr id="6" name="Slide Number Placeholder 5"/>
          <p:cNvSpPr>
            <a:spLocks noGrp="1"/>
          </p:cNvSpPr>
          <p:nvPr>
            <p:ph type="sldNum" sz="quarter" idx="4"/>
          </p:nvPr>
        </p:nvSpPr>
        <p:spPr>
          <a:xfrm>
            <a:off x="10514012" y="5883275"/>
            <a:ext cx="551167" cy="365125"/>
          </a:xfrm>
          <a:prstGeom prst="rect">
            <a:avLst/>
          </a:prstGeom>
        </p:spPr>
        <p:txBody>
          <a:bodyPr vert="horz" lIns="91440" tIns="45720" rIns="91440" bIns="45720" rtlCol="0" anchor="ctr"/>
          <a:lstStyle>
            <a:lvl1pPr algn="r">
              <a:defRPr sz="900" b="1" i="0">
                <a:solidFill>
                  <a:schemeClr val="tx1">
                    <a:lumMod val="75000"/>
                  </a:schemeClr>
                </a:solidFill>
                <a:effectLst>
                  <a:outerShdw blurRad="50800" dist="38100" dir="2700000" algn="tl" rotWithShape="0">
                    <a:srgbClr val="000000">
                      <a:alpha val="43000"/>
                    </a:srgbClr>
                  </a:outerShdw>
                </a:effectLst>
                <a:latin typeface="+mn-lt"/>
              </a:defRPr>
            </a:lvl1pPr>
          </a:lstStyle>
          <a:p>
            <a:fld id="{D57F1E4F-1CFF-5643-939E-217C01CDF56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1" r:id="rId9"/>
    <p:sldLayoutId id="2147483657" r:id="rId10"/>
    <p:sldLayoutId id="2147483663" r:id="rId11"/>
    <p:sldLayoutId id="2147483664" r:id="rId12"/>
    <p:sldLayoutId id="2147483665" r:id="rId13"/>
    <p:sldLayoutId id="2147483666" r:id="rId14"/>
    <p:sldLayoutId id="2147483667" r:id="rId15"/>
    <p:sldLayoutId id="2147483658" r:id="rId16"/>
    <p:sldLayoutId id="2147483659" r:id="rId17"/>
  </p:sldLayoutIdLst>
  <p:txStyles>
    <p:titleStyle>
      <a:lvl1pPr algn="l" defTabSz="457200" rtl="0" eaLnBrk="1" latinLnBrk="0" hangingPunct="1">
        <a:spcBef>
          <a:spcPct val="0"/>
        </a:spcBef>
        <a:buNone/>
        <a:defRPr sz="3200" kern="1200" cap="all">
          <a:ln w="3175" cmpd="sng">
            <a:noFill/>
          </a:ln>
          <a:gradFill flip="none" rotWithShape="1">
            <a:gsLst>
              <a:gs pos="0">
                <a:schemeClr val="tx1"/>
              </a:gs>
              <a:gs pos="100000">
                <a:schemeClr val="tx1">
                  <a:lumMod val="65000"/>
                </a:schemeClr>
              </a:gs>
            </a:gsLst>
            <a:lin ang="5580000" scaled="0"/>
            <a:tileRect/>
          </a:gradFill>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tx1"/>
        </a:buClr>
        <a:buSzPct val="100000"/>
        <a:buFont typeface="Arial"/>
        <a:buChar char="•"/>
        <a:defRPr sz="20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100000"/>
        <a:buFont typeface="Arial"/>
        <a:buChar char="•"/>
        <a:defRPr sz="18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100000"/>
        <a:buFont typeface="Arial"/>
        <a:buChar char="•"/>
        <a:defRPr sz="16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100000"/>
        <a:buFont typeface="Arial"/>
        <a:buChar char="•"/>
        <a:defRPr sz="14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100000"/>
        <a:buFont typeface="Arial"/>
        <a:buChar char="•"/>
        <a:defRPr sz="14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m4a"/><Relationship Id="rId1" Type="http://schemas.microsoft.com/office/2007/relationships/media" Target="../media/media1.m4a"/><Relationship Id="rId5"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2.m4a"/><Relationship Id="rId1" Type="http://schemas.microsoft.com/office/2007/relationships/media" Target="../media/media2.m4a"/><Relationship Id="rId6" Type="http://schemas.openxmlformats.org/officeDocument/2006/relationships/image" Target="../media/image2.png"/><Relationship Id="rId5" Type="http://schemas.openxmlformats.org/officeDocument/2006/relationships/image" Target="../media/image3.jpe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3.m4a"/><Relationship Id="rId1" Type="http://schemas.microsoft.com/office/2007/relationships/media" Target="../media/media3.m4a"/><Relationship Id="rId5" Type="http://schemas.openxmlformats.org/officeDocument/2006/relationships/image" Target="../media/image2.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4.m4a"/><Relationship Id="rId1" Type="http://schemas.microsoft.com/office/2007/relationships/media" Target="../media/media4.m4a"/><Relationship Id="rId5" Type="http://schemas.openxmlformats.org/officeDocument/2006/relationships/image" Target="../media/image2.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5.m4a"/><Relationship Id="rId1" Type="http://schemas.microsoft.com/office/2007/relationships/media" Target="../media/media5.m4a"/><Relationship Id="rId5" Type="http://schemas.openxmlformats.org/officeDocument/2006/relationships/image" Target="../media/image2.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6.m4a"/><Relationship Id="rId1" Type="http://schemas.microsoft.com/office/2007/relationships/media" Target="../media/media6.m4a"/><Relationship Id="rId5" Type="http://schemas.openxmlformats.org/officeDocument/2006/relationships/image" Target="../media/image2.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7.m4a"/><Relationship Id="rId1" Type="http://schemas.microsoft.com/office/2007/relationships/media" Target="../media/media7.m4a"/><Relationship Id="rId5" Type="http://schemas.openxmlformats.org/officeDocument/2006/relationships/image" Target="../media/image2.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8.m4a"/><Relationship Id="rId1" Type="http://schemas.microsoft.com/office/2007/relationships/media" Target="../media/media8.m4a"/><Relationship Id="rId5" Type="http://schemas.openxmlformats.org/officeDocument/2006/relationships/image" Target="../media/image2.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9.m4a"/><Relationship Id="rId1" Type="http://schemas.microsoft.com/office/2007/relationships/media" Target="../media/media9.m4a"/><Relationship Id="rId5" Type="http://schemas.openxmlformats.org/officeDocument/2006/relationships/image" Target="../media/image2.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8" Type="http://schemas.openxmlformats.org/officeDocument/2006/relationships/hyperlink" Target="https://www.researchgate.net/publication/390222251_Ensuring_Transparent_and_Compliant_AI_Systems_in_the_Quantum_Era" TargetMode="External"/><Relationship Id="rId13" Type="http://schemas.openxmlformats.org/officeDocument/2006/relationships/hyperlink" Target="https://ideas.repec.org/p/oec/stiaab/371-en.html" TargetMode="External"/><Relationship Id="rId3" Type="http://schemas.openxmlformats.org/officeDocument/2006/relationships/slideLayout" Target="../slideLayouts/slideLayout2.xml"/><Relationship Id="rId7" Type="http://schemas.openxmlformats.org/officeDocument/2006/relationships/hyperlink" Target="https://www.researchgate.net/publication/379667366_Study_on_Implementation_of_Shor's_Factorization_Algorithm_on_Quantum_Computer" TargetMode="External"/><Relationship Id="rId12" Type="http://schemas.openxmlformats.org/officeDocument/2006/relationships/hyperlink" Target="https://www.researchgate.net/publication/385828331_Applications_of_Quantum_Approximate_Optimization_Algorithm_QAOA_in_Logistics_and_Supply_Chain_Management" TargetMode="External"/><Relationship Id="rId17" Type="http://schemas.openxmlformats.org/officeDocument/2006/relationships/image" Target="../media/image2.png"/><Relationship Id="rId2" Type="http://schemas.openxmlformats.org/officeDocument/2006/relationships/audio" Target="../media/media10.m4a"/><Relationship Id="rId16" Type="http://schemas.openxmlformats.org/officeDocument/2006/relationships/hyperlink" Target="https://www.researchgate.net/publication/390261779_Quantum_Computing_in_Drug_Discovery" TargetMode="External"/><Relationship Id="rId1" Type="http://schemas.microsoft.com/office/2007/relationships/media" Target="../media/media10.m4a"/><Relationship Id="rId6" Type="http://schemas.openxmlformats.org/officeDocument/2006/relationships/hyperlink" Target="https://www.researchgate.net/publication/394558691_Quantum_Machine_Learning_Towards_Hybrid_Quantum-Classical_Vision_Models" TargetMode="External"/><Relationship Id="rId11" Type="http://schemas.openxmlformats.org/officeDocument/2006/relationships/hyperlink" Target="https://books.google.com/books/about/Quantum_Computation_and_Quantum_Informat.html?id=65FqEKQOfP8C" TargetMode="External"/><Relationship Id="rId5" Type="http://schemas.openxmlformats.org/officeDocument/2006/relationships/hyperlink" Target="https://arxiv.org/abs/2508.17071" TargetMode="External"/><Relationship Id="rId15" Type="http://schemas.openxmlformats.org/officeDocument/2006/relationships/hyperlink" Target="https://www.weforum.org/publications/quantum-computing-governance-principles/" TargetMode="External"/><Relationship Id="rId10" Type="http://schemas.openxmlformats.org/officeDocument/2006/relationships/hyperlink" Target="https://www.nist.gov/blogs/taking-measure/5-concepts-can-help-you-understand-quantum-mechanics-and-technology-without" TargetMode="External"/><Relationship Id="rId4" Type="http://schemas.openxmlformats.org/officeDocument/2006/relationships/notesSlide" Target="../notesSlides/notesSlide10.xml"/><Relationship Id="rId9" Type="http://schemas.openxmlformats.org/officeDocument/2006/relationships/hyperlink" Target="https://csrc.nist.gov/pubs/fips/203/final" TargetMode="External"/><Relationship Id="rId14" Type="http://schemas.openxmlformats.org/officeDocument/2006/relationships/hyperlink" Target="https://arxiv.org/html/2508.19276v1"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08D431-3D40-56D4-5A3D-BF64CD6F3FCD}"/>
              </a:ext>
            </a:extLst>
          </p:cNvPr>
          <p:cNvSpPr>
            <a:spLocks noGrp="1"/>
          </p:cNvSpPr>
          <p:nvPr>
            <p:ph type="title"/>
          </p:nvPr>
        </p:nvSpPr>
        <p:spPr/>
        <p:txBody>
          <a:bodyPr>
            <a:normAutofit/>
          </a:bodyPr>
          <a:lstStyle/>
          <a:p>
            <a:r>
              <a:rPr lang="en-GB" dirty="0"/>
              <a:t>The Quantum Imperative: Preparing for the Post-Quantum Era</a:t>
            </a:r>
            <a:br>
              <a:rPr lang="en-GB" dirty="0"/>
            </a:br>
            <a:r>
              <a:rPr lang="en-GB" sz="1600" i="1" dirty="0"/>
              <a:t>Technical Potential, Security Risks, and the Role of Governance</a:t>
            </a:r>
            <a:endParaRPr lang="en-GB" i="1" dirty="0"/>
          </a:p>
        </p:txBody>
      </p:sp>
      <p:sp>
        <p:nvSpPr>
          <p:cNvPr id="3" name="Content Placeholder 2">
            <a:extLst>
              <a:ext uri="{FF2B5EF4-FFF2-40B4-BE49-F238E27FC236}">
                <a16:creationId xmlns:a16="http://schemas.microsoft.com/office/drawing/2014/main" id="{10D4F0A2-5AFD-D62B-7CE9-4D6A7DBF6CBA}"/>
              </a:ext>
            </a:extLst>
          </p:cNvPr>
          <p:cNvSpPr>
            <a:spLocks noGrp="1"/>
          </p:cNvSpPr>
          <p:nvPr>
            <p:ph idx="1"/>
          </p:nvPr>
        </p:nvSpPr>
        <p:spPr/>
        <p:txBody>
          <a:bodyPr/>
          <a:lstStyle/>
          <a:p>
            <a:pPr marL="0" indent="0">
              <a:buNone/>
            </a:pPr>
            <a:r>
              <a:rPr lang="en-GB" dirty="0"/>
              <a:t>Agenda</a:t>
            </a:r>
          </a:p>
          <a:p>
            <a:pPr marL="457200" indent="-457200">
              <a:buAutoNum type="arabicPeriod"/>
            </a:pPr>
            <a:r>
              <a:rPr lang="en-GB" b="1" dirty="0"/>
              <a:t>Technical Foundations</a:t>
            </a:r>
            <a:r>
              <a:rPr lang="en-GB" dirty="0"/>
              <a:t> (QC/Qubit Tech) </a:t>
            </a:r>
          </a:p>
          <a:p>
            <a:pPr marL="457200" indent="-457200">
              <a:buAutoNum type="arabicPeriod"/>
            </a:pPr>
            <a:r>
              <a:rPr lang="en-GB" b="1" dirty="0"/>
              <a:t>Real-World Applications</a:t>
            </a:r>
            <a:r>
              <a:rPr lang="en-GB" dirty="0"/>
              <a:t> (Quantum Advantage) </a:t>
            </a:r>
            <a:endParaRPr lang="en-GB" b="1" dirty="0"/>
          </a:p>
          <a:p>
            <a:pPr marL="457200" indent="-457200">
              <a:buAutoNum type="arabicPeriod"/>
            </a:pPr>
            <a:r>
              <a:rPr lang="en-GB" b="1" dirty="0"/>
              <a:t>Security &amp; The PQC Solution</a:t>
            </a:r>
            <a:r>
              <a:rPr lang="en-GB" dirty="0"/>
              <a:t> (The Quantum Threat &amp; NIST) </a:t>
            </a:r>
            <a:endParaRPr lang="en-GB" b="1" dirty="0"/>
          </a:p>
          <a:p>
            <a:pPr marL="457200" indent="-457200">
              <a:buAutoNum type="arabicPeriod"/>
            </a:pPr>
            <a:r>
              <a:rPr lang="en-GB" b="1" dirty="0"/>
              <a:t>Regulatory &amp; Ethical Frameworks</a:t>
            </a:r>
            <a:r>
              <a:rPr lang="en-GB" dirty="0"/>
              <a:t> (NIST, WEF, GDPR) </a:t>
            </a:r>
            <a:endParaRPr lang="en-GB" b="1" dirty="0"/>
          </a:p>
          <a:p>
            <a:pPr marL="457200" indent="-457200">
              <a:buAutoNum type="arabicPeriod"/>
            </a:pPr>
            <a:r>
              <a:rPr lang="en-GB" b="1" dirty="0"/>
              <a:t>Case Studies</a:t>
            </a:r>
            <a:r>
              <a:rPr lang="en-GB" dirty="0"/>
              <a:t> (Operational Challenges)</a:t>
            </a:r>
          </a:p>
        </p:txBody>
      </p:sp>
      <p:sp>
        <p:nvSpPr>
          <p:cNvPr id="4" name="TextBox 3">
            <a:extLst>
              <a:ext uri="{FF2B5EF4-FFF2-40B4-BE49-F238E27FC236}">
                <a16:creationId xmlns:a16="http://schemas.microsoft.com/office/drawing/2014/main" id="{3A41C5BB-36E9-6521-17D6-3D2593969CEB}"/>
              </a:ext>
            </a:extLst>
          </p:cNvPr>
          <p:cNvSpPr txBox="1"/>
          <p:nvPr/>
        </p:nvSpPr>
        <p:spPr>
          <a:xfrm>
            <a:off x="116378" y="6248400"/>
            <a:ext cx="6168043" cy="369332"/>
          </a:xfrm>
          <a:prstGeom prst="rect">
            <a:avLst/>
          </a:prstGeom>
          <a:noFill/>
        </p:spPr>
        <p:txBody>
          <a:bodyPr wrap="square" rtlCol="0">
            <a:spAutoFit/>
          </a:bodyPr>
          <a:lstStyle/>
          <a:p>
            <a:r>
              <a:rPr lang="en-GB" dirty="0"/>
              <a:t>(Nielsen &amp; Chuang, 2010)</a:t>
            </a:r>
          </a:p>
        </p:txBody>
      </p:sp>
      <p:pic>
        <p:nvPicPr>
          <p:cNvPr id="14" name="Audio 13">
            <a:extLst>
              <a:ext uri="{FF2B5EF4-FFF2-40B4-BE49-F238E27FC236}">
                <a16:creationId xmlns:a16="http://schemas.microsoft.com/office/drawing/2014/main" id="{331CF851-4888-C0A0-A34C-EE293AE0A649}"/>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1163300" y="5829300"/>
            <a:ext cx="812800" cy="812800"/>
          </a:xfrm>
          <a:prstGeom prst="rect">
            <a:avLst/>
          </a:prstGeom>
        </p:spPr>
      </p:pic>
    </p:spTree>
    <p:extLst>
      <p:ext uri="{BB962C8B-B14F-4D97-AF65-F5344CB8AC3E}">
        <p14:creationId xmlns:p14="http://schemas.microsoft.com/office/powerpoint/2010/main" val="65099889"/>
      </p:ext>
    </p:extLst>
  </p:cSld>
  <p:clrMapOvr>
    <a:masterClrMapping/>
  </p:clrMapOvr>
  <mc:AlternateContent xmlns:mc="http://schemas.openxmlformats.org/markup-compatibility/2006">
    <mc:Choice xmlns:p14="http://schemas.microsoft.com/office/powerpoint/2010/main" Requires="p14">
      <p:transition spd="slow" p14:dur="2000" advTm="57504"/>
    </mc:Choice>
    <mc:Fallback>
      <p:transition spd="slow" advTm="57504"/>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4"/>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4"/>
                </p:tgtEl>
              </p:cMediaNode>
            </p:audi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C44949-A90A-C2B2-506C-02B9453631AE}"/>
              </a:ext>
            </a:extLst>
          </p:cNvPr>
          <p:cNvSpPr>
            <a:spLocks noGrp="1"/>
          </p:cNvSpPr>
          <p:nvPr>
            <p:ph type="title"/>
          </p:nvPr>
        </p:nvSpPr>
        <p:spPr>
          <a:xfrm>
            <a:off x="815592" y="256987"/>
            <a:ext cx="9905998" cy="1905000"/>
          </a:xfrm>
        </p:spPr>
        <p:txBody>
          <a:bodyPr/>
          <a:lstStyle/>
          <a:p>
            <a:r>
              <a:rPr lang="en-GB" dirty="0"/>
              <a:t>Qubits, Superposition, and Entanglement</a:t>
            </a:r>
          </a:p>
        </p:txBody>
      </p:sp>
      <p:sp>
        <p:nvSpPr>
          <p:cNvPr id="3" name="Content Placeholder 2">
            <a:extLst>
              <a:ext uri="{FF2B5EF4-FFF2-40B4-BE49-F238E27FC236}">
                <a16:creationId xmlns:a16="http://schemas.microsoft.com/office/drawing/2014/main" id="{EECBF498-E8F4-B7C7-595B-798066A9A35F}"/>
              </a:ext>
            </a:extLst>
          </p:cNvPr>
          <p:cNvSpPr>
            <a:spLocks noGrp="1"/>
          </p:cNvSpPr>
          <p:nvPr>
            <p:ph idx="1"/>
          </p:nvPr>
        </p:nvSpPr>
        <p:spPr>
          <a:xfrm>
            <a:off x="385926" y="2464158"/>
            <a:ext cx="7004104" cy="3124201"/>
          </a:xfrm>
        </p:spPr>
        <p:txBody>
          <a:bodyPr>
            <a:normAutofit fontScale="70000" lnSpcReduction="20000"/>
          </a:bodyPr>
          <a:lstStyle/>
          <a:p>
            <a:pPr marL="0" indent="0">
              <a:buNone/>
            </a:pPr>
            <a:r>
              <a:rPr lang="en-GB" b="1" dirty="0"/>
              <a:t>Classical Bits vs. Qubits:</a:t>
            </a:r>
            <a:r>
              <a:rPr lang="en-GB" dirty="0"/>
              <a:t> Classical bits are 0 or 1. Qubits exist in a superposition of both states simultaneously. </a:t>
            </a:r>
          </a:p>
          <a:p>
            <a:pPr marL="0" indent="0">
              <a:buNone/>
            </a:pPr>
            <a:r>
              <a:rPr lang="en-GB" b="1" dirty="0"/>
              <a:t>Superposition:</a:t>
            </a:r>
            <a:r>
              <a:rPr lang="en-GB" dirty="0"/>
              <a:t> The ability of a qubit to represent a combination of 0 and 1 until measured, allowing for parallel computation</a:t>
            </a:r>
          </a:p>
          <a:p>
            <a:pPr marL="0" indent="0">
              <a:buNone/>
            </a:pPr>
            <a:endParaRPr lang="en-GB" dirty="0"/>
          </a:p>
          <a:p>
            <a:pPr marL="0" indent="0">
              <a:buNone/>
            </a:pPr>
            <a:r>
              <a:rPr lang="en-GB" b="1" dirty="0"/>
              <a:t>Entanglement:</a:t>
            </a:r>
            <a:r>
              <a:rPr lang="en-GB" dirty="0"/>
              <a:t> A unique quantum link where the state of one qubit instantaneously determines the state of another, regardless of distance. This is the mechanism for correlated information processing. </a:t>
            </a:r>
          </a:p>
          <a:p>
            <a:pPr marL="0" indent="0">
              <a:buNone/>
            </a:pPr>
            <a:r>
              <a:rPr lang="en-GB" b="1" dirty="0"/>
              <a:t>Algorithms</a:t>
            </a:r>
          </a:p>
          <a:p>
            <a:pPr marL="0" indent="0">
              <a:buNone/>
            </a:pPr>
            <a:r>
              <a:rPr lang="en-GB" b="1" dirty="0"/>
              <a:t>Shor's Algorithm:</a:t>
            </a:r>
            <a:r>
              <a:rPr lang="en-GB" dirty="0"/>
              <a:t> Factorizes large numbers exponentially faster than classical computers, directly threatening RSA and ECC. </a:t>
            </a:r>
          </a:p>
          <a:p>
            <a:pPr marL="0" indent="0">
              <a:buNone/>
            </a:pPr>
            <a:r>
              <a:rPr lang="en-GB" b="1" dirty="0"/>
              <a:t>Grover's Algorithm:</a:t>
            </a:r>
            <a:r>
              <a:rPr lang="en-GB" dirty="0"/>
              <a:t> Provides a quadratic speedup for unstructured database searches</a:t>
            </a:r>
          </a:p>
        </p:txBody>
      </p:sp>
      <p:pic>
        <p:nvPicPr>
          <p:cNvPr id="1026" name="Picture 2" descr="Image of Qubit States in Superposition">
            <a:extLst>
              <a:ext uri="{FF2B5EF4-FFF2-40B4-BE49-F238E27FC236}">
                <a16:creationId xmlns:a16="http://schemas.microsoft.com/office/drawing/2014/main" id="{784D8C9E-BDA5-5080-0A79-71885220A94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390030" y="1995933"/>
            <a:ext cx="4403616" cy="4546755"/>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A1AFFFBD-5E86-619D-4C58-1C696AE9D7BB}"/>
              </a:ext>
            </a:extLst>
          </p:cNvPr>
          <p:cNvSpPr txBox="1"/>
          <p:nvPr/>
        </p:nvSpPr>
        <p:spPr>
          <a:xfrm>
            <a:off x="116378" y="6248400"/>
            <a:ext cx="6168043" cy="369332"/>
          </a:xfrm>
          <a:prstGeom prst="rect">
            <a:avLst/>
          </a:prstGeom>
          <a:noFill/>
        </p:spPr>
        <p:txBody>
          <a:bodyPr wrap="square" rtlCol="0">
            <a:spAutoFit/>
          </a:bodyPr>
          <a:lstStyle/>
          <a:p>
            <a:r>
              <a:rPr lang="en-GB" dirty="0"/>
              <a:t>(NIST, 2025)</a:t>
            </a:r>
          </a:p>
        </p:txBody>
      </p:sp>
      <p:pic>
        <p:nvPicPr>
          <p:cNvPr id="9" name="Audio 8">
            <a:extLst>
              <a:ext uri="{FF2B5EF4-FFF2-40B4-BE49-F238E27FC236}">
                <a16:creationId xmlns:a16="http://schemas.microsoft.com/office/drawing/2014/main" id="{1AB39EDE-3691-699A-A3CB-A5524A8E1AE6}"/>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1163300" y="5829300"/>
            <a:ext cx="812800" cy="812800"/>
          </a:xfrm>
          <a:prstGeom prst="rect">
            <a:avLst/>
          </a:prstGeom>
        </p:spPr>
      </p:pic>
    </p:spTree>
    <p:extLst>
      <p:ext uri="{BB962C8B-B14F-4D97-AF65-F5344CB8AC3E}">
        <p14:creationId xmlns:p14="http://schemas.microsoft.com/office/powerpoint/2010/main" val="413096135"/>
      </p:ext>
    </p:extLst>
  </p:cSld>
  <p:clrMapOvr>
    <a:masterClrMapping/>
  </p:clrMapOvr>
  <mc:AlternateContent xmlns:mc="http://schemas.openxmlformats.org/markup-compatibility/2006">
    <mc:Choice xmlns:p14="http://schemas.microsoft.com/office/powerpoint/2010/main" Requires="p14">
      <p:transition spd="slow" p14:dur="2000" advTm="61888"/>
    </mc:Choice>
    <mc:Fallback>
      <p:transition spd="slow" advTm="61888"/>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9"/>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9"/>
                </p:tgtEl>
              </p:cMediaNode>
            </p:audio>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01BC48-693C-1C44-986F-7A6AF47363BE}"/>
              </a:ext>
            </a:extLst>
          </p:cNvPr>
          <p:cNvSpPr>
            <a:spLocks noGrp="1"/>
          </p:cNvSpPr>
          <p:nvPr>
            <p:ph type="title"/>
          </p:nvPr>
        </p:nvSpPr>
        <p:spPr/>
        <p:txBody>
          <a:bodyPr/>
          <a:lstStyle/>
          <a:p>
            <a:r>
              <a:rPr lang="en-GB" dirty="0"/>
              <a:t>Transforming Industry: Applications of Quantum Computing</a:t>
            </a:r>
          </a:p>
        </p:txBody>
      </p:sp>
      <p:sp>
        <p:nvSpPr>
          <p:cNvPr id="3" name="Content Placeholder 2">
            <a:extLst>
              <a:ext uri="{FF2B5EF4-FFF2-40B4-BE49-F238E27FC236}">
                <a16:creationId xmlns:a16="http://schemas.microsoft.com/office/drawing/2014/main" id="{35EB5554-A3EF-8E79-8F79-88CB69284031}"/>
              </a:ext>
            </a:extLst>
          </p:cNvPr>
          <p:cNvSpPr>
            <a:spLocks noGrp="1"/>
          </p:cNvSpPr>
          <p:nvPr>
            <p:ph idx="1"/>
          </p:nvPr>
        </p:nvSpPr>
        <p:spPr/>
        <p:txBody>
          <a:bodyPr>
            <a:normAutofit lnSpcReduction="10000"/>
          </a:bodyPr>
          <a:lstStyle/>
          <a:p>
            <a:pPr marL="0" indent="0">
              <a:buNone/>
            </a:pPr>
            <a:r>
              <a:rPr lang="en-GB" dirty="0"/>
              <a:t>Quantum computers excel at simulation and optimization problems intractable for classical supercomputers.</a:t>
            </a:r>
            <a:endParaRPr lang="en-GB" b="1" dirty="0"/>
          </a:p>
          <a:p>
            <a:pPr marL="457200" indent="-457200">
              <a:buAutoNum type="arabicPeriod"/>
            </a:pPr>
            <a:r>
              <a:rPr lang="en-GB" b="1" dirty="0"/>
              <a:t>Chemistry &amp; Materials Science:</a:t>
            </a:r>
            <a:r>
              <a:rPr lang="en-GB" dirty="0"/>
              <a:t> Simulating molecular interactions with precision, accelerating drug discovery, and developing novel catalysts . </a:t>
            </a:r>
          </a:p>
          <a:p>
            <a:pPr marL="457200" indent="-457200">
              <a:buAutoNum type="arabicPeriod"/>
            </a:pPr>
            <a:r>
              <a:rPr lang="en-GB" b="1" dirty="0"/>
              <a:t>Finance:</a:t>
            </a:r>
            <a:r>
              <a:rPr lang="en-GB" dirty="0"/>
              <a:t> Portfolio optimization, high-frequency trading arbitrage detection, and complex risk modelling (e.g., Monte Carlo simulations). </a:t>
            </a:r>
            <a:endParaRPr lang="en-GB" b="1" dirty="0"/>
          </a:p>
          <a:p>
            <a:pPr marL="457200" indent="-457200">
              <a:buAutoNum type="arabicPeriod"/>
            </a:pPr>
            <a:r>
              <a:rPr lang="en-GB" b="1" dirty="0"/>
              <a:t>Logistics &amp; AI:</a:t>
            </a:r>
            <a:r>
              <a:rPr lang="en-GB" dirty="0"/>
              <a:t> Solving large-scale </a:t>
            </a:r>
            <a:r>
              <a:rPr lang="en-GB" b="1" dirty="0"/>
              <a:t>optimization</a:t>
            </a:r>
            <a:r>
              <a:rPr lang="en-GB" dirty="0"/>
              <a:t> problems like complex vehicle routing and supply chain management using algorithms like QAOA (Quantum Approximate Optimization Algorithm)</a:t>
            </a:r>
          </a:p>
        </p:txBody>
      </p:sp>
      <p:sp>
        <p:nvSpPr>
          <p:cNvPr id="6" name="TextBox 5">
            <a:extLst>
              <a:ext uri="{FF2B5EF4-FFF2-40B4-BE49-F238E27FC236}">
                <a16:creationId xmlns:a16="http://schemas.microsoft.com/office/drawing/2014/main" id="{12D0799D-B772-D5C4-453E-B943F770F9DA}"/>
              </a:ext>
            </a:extLst>
          </p:cNvPr>
          <p:cNvSpPr txBox="1"/>
          <p:nvPr/>
        </p:nvSpPr>
        <p:spPr>
          <a:xfrm>
            <a:off x="116378" y="6248400"/>
            <a:ext cx="6168043" cy="369332"/>
          </a:xfrm>
          <a:prstGeom prst="rect">
            <a:avLst/>
          </a:prstGeom>
          <a:noFill/>
        </p:spPr>
        <p:txBody>
          <a:bodyPr wrap="square" rtlCol="0">
            <a:spAutoFit/>
          </a:bodyPr>
          <a:lstStyle/>
          <a:p>
            <a:r>
              <a:rPr lang="en-GB" dirty="0"/>
              <a:t>(Marino </a:t>
            </a:r>
            <a:r>
              <a:rPr lang="en-GB" i="1" dirty="0"/>
              <a:t>et al.</a:t>
            </a:r>
            <a:r>
              <a:rPr lang="en-GB" dirty="0"/>
              <a:t>, 2025) and (</a:t>
            </a:r>
            <a:r>
              <a:rPr lang="en-GB" dirty="0" err="1"/>
              <a:t>Olasehinde</a:t>
            </a:r>
            <a:r>
              <a:rPr lang="en-GB" dirty="0"/>
              <a:t>, 2023)</a:t>
            </a:r>
          </a:p>
        </p:txBody>
      </p:sp>
      <p:pic>
        <p:nvPicPr>
          <p:cNvPr id="9" name="Audio 8">
            <a:extLst>
              <a:ext uri="{FF2B5EF4-FFF2-40B4-BE49-F238E27FC236}">
                <a16:creationId xmlns:a16="http://schemas.microsoft.com/office/drawing/2014/main" id="{7C85D745-B8BA-8813-252E-A6568BBEB16F}"/>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1163300" y="5829300"/>
            <a:ext cx="812800" cy="812800"/>
          </a:xfrm>
          <a:prstGeom prst="rect">
            <a:avLst/>
          </a:prstGeom>
        </p:spPr>
      </p:pic>
    </p:spTree>
    <p:extLst>
      <p:ext uri="{BB962C8B-B14F-4D97-AF65-F5344CB8AC3E}">
        <p14:creationId xmlns:p14="http://schemas.microsoft.com/office/powerpoint/2010/main" val="2775699955"/>
      </p:ext>
    </p:extLst>
  </p:cSld>
  <p:clrMapOvr>
    <a:masterClrMapping/>
  </p:clrMapOvr>
  <mc:AlternateContent xmlns:mc="http://schemas.openxmlformats.org/markup-compatibility/2006">
    <mc:Choice xmlns:p14="http://schemas.microsoft.com/office/powerpoint/2010/main" Requires="p14">
      <p:transition spd="slow" p14:dur="2000" advTm="83562"/>
    </mc:Choice>
    <mc:Fallback>
      <p:transition spd="slow" advTm="83562"/>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9"/>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9"/>
                </p:tgtEl>
              </p:cMediaNode>
            </p:audio>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3B3C00-3DED-93DA-A72D-DDFA7F085CA9}"/>
              </a:ext>
            </a:extLst>
          </p:cNvPr>
          <p:cNvSpPr>
            <a:spLocks noGrp="1"/>
          </p:cNvSpPr>
          <p:nvPr>
            <p:ph type="title"/>
          </p:nvPr>
        </p:nvSpPr>
        <p:spPr/>
        <p:txBody>
          <a:bodyPr/>
          <a:lstStyle/>
          <a:p>
            <a:r>
              <a:rPr lang="en-GB" dirty="0"/>
              <a:t>The Quantum Cryptographic Apocalypse: Shor's Algorithm</a:t>
            </a:r>
          </a:p>
        </p:txBody>
      </p:sp>
      <p:sp>
        <p:nvSpPr>
          <p:cNvPr id="3" name="Content Placeholder 2">
            <a:extLst>
              <a:ext uri="{FF2B5EF4-FFF2-40B4-BE49-F238E27FC236}">
                <a16:creationId xmlns:a16="http://schemas.microsoft.com/office/drawing/2014/main" id="{0DA8DA49-F14D-46E2-3AB9-2F0C4570CD84}"/>
              </a:ext>
            </a:extLst>
          </p:cNvPr>
          <p:cNvSpPr>
            <a:spLocks noGrp="1"/>
          </p:cNvSpPr>
          <p:nvPr>
            <p:ph idx="1"/>
          </p:nvPr>
        </p:nvSpPr>
        <p:spPr/>
        <p:txBody>
          <a:bodyPr>
            <a:normAutofit lnSpcReduction="10000"/>
          </a:bodyPr>
          <a:lstStyle/>
          <a:p>
            <a:pPr marL="0" indent="0">
              <a:buNone/>
            </a:pPr>
            <a:r>
              <a:rPr lang="en-GB" b="1" dirty="0"/>
              <a:t>Primary Threat: Shor's Algorithm:</a:t>
            </a:r>
            <a:r>
              <a:rPr lang="en-GB" dirty="0"/>
              <a:t> Breaks the mathematical foundation of current public-key cryptography (PKC), specifically </a:t>
            </a:r>
            <a:r>
              <a:rPr lang="en-GB" b="1" dirty="0"/>
              <a:t>RSA</a:t>
            </a:r>
            <a:r>
              <a:rPr lang="en-GB" dirty="0"/>
              <a:t> and </a:t>
            </a:r>
            <a:r>
              <a:rPr lang="en-GB" b="1" dirty="0"/>
              <a:t>Elliptic Curve Cryptography (ECC)</a:t>
            </a:r>
          </a:p>
          <a:p>
            <a:pPr marL="0" indent="0">
              <a:buNone/>
            </a:pPr>
            <a:r>
              <a:rPr lang="en-GB" b="1" dirty="0"/>
              <a:t>The 'Harvest Now, Decrypt Later' (HNDL) Threat: </a:t>
            </a:r>
            <a:r>
              <a:rPr lang="en-GB" dirty="0"/>
              <a:t>Adversaries are currently </a:t>
            </a:r>
            <a:r>
              <a:rPr lang="en-GB" b="1" dirty="0"/>
              <a:t>harvesting</a:t>
            </a:r>
            <a:r>
              <a:rPr lang="en-GB" dirty="0"/>
              <a:t> vast amounts of encrypted data (diplomatic, financial, medical) and storing it. When a Cryptographically Relevant Quantum Computer (CRQC) is built, this data will be rapidly decrypted . This is an immediate threat to long-lived, sensitive data.</a:t>
            </a:r>
          </a:p>
          <a:p>
            <a:pPr marL="0" indent="0">
              <a:buNone/>
            </a:pPr>
            <a:r>
              <a:rPr lang="en-GB" b="1" dirty="0"/>
              <a:t>Affected Systems: </a:t>
            </a:r>
            <a:r>
              <a:rPr lang="en-GB" dirty="0"/>
              <a:t>TLS/SSL (HTTPS), VPNs, Digital Signatures, and </a:t>
            </a:r>
            <a:r>
              <a:rPr lang="en-GB" b="1" dirty="0"/>
              <a:t>Blockchain</a:t>
            </a:r>
            <a:r>
              <a:rPr lang="en-GB" dirty="0"/>
              <a:t> integrity (as most use ECC for transaction verification).</a:t>
            </a:r>
            <a:endParaRPr lang="en-GB" b="1" dirty="0"/>
          </a:p>
        </p:txBody>
      </p:sp>
      <p:sp>
        <p:nvSpPr>
          <p:cNvPr id="6" name="TextBox 5">
            <a:extLst>
              <a:ext uri="{FF2B5EF4-FFF2-40B4-BE49-F238E27FC236}">
                <a16:creationId xmlns:a16="http://schemas.microsoft.com/office/drawing/2014/main" id="{3509C4DF-F36E-7E55-1592-87AAB9C28667}"/>
              </a:ext>
            </a:extLst>
          </p:cNvPr>
          <p:cNvSpPr txBox="1"/>
          <p:nvPr/>
        </p:nvSpPr>
        <p:spPr>
          <a:xfrm>
            <a:off x="116378" y="6248400"/>
            <a:ext cx="6168043" cy="369332"/>
          </a:xfrm>
          <a:prstGeom prst="rect">
            <a:avLst/>
          </a:prstGeom>
          <a:noFill/>
        </p:spPr>
        <p:txBody>
          <a:bodyPr wrap="square" rtlCol="0">
            <a:spAutoFit/>
          </a:bodyPr>
          <a:lstStyle/>
          <a:p>
            <a:r>
              <a:rPr lang="en-GB" dirty="0"/>
              <a:t>(Smith &amp; Doe, 2024)</a:t>
            </a:r>
          </a:p>
        </p:txBody>
      </p:sp>
      <p:pic>
        <p:nvPicPr>
          <p:cNvPr id="12" name="Audio 11">
            <a:extLst>
              <a:ext uri="{FF2B5EF4-FFF2-40B4-BE49-F238E27FC236}">
                <a16:creationId xmlns:a16="http://schemas.microsoft.com/office/drawing/2014/main" id="{4EB8CEC2-07F8-AE4A-5861-ECC823BF7F2B}"/>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1163300" y="5829300"/>
            <a:ext cx="812800" cy="812800"/>
          </a:xfrm>
          <a:prstGeom prst="rect">
            <a:avLst/>
          </a:prstGeom>
        </p:spPr>
      </p:pic>
    </p:spTree>
    <p:extLst>
      <p:ext uri="{BB962C8B-B14F-4D97-AF65-F5344CB8AC3E}">
        <p14:creationId xmlns:p14="http://schemas.microsoft.com/office/powerpoint/2010/main" val="2417058027"/>
      </p:ext>
    </p:extLst>
  </p:cSld>
  <p:clrMapOvr>
    <a:masterClrMapping/>
  </p:clrMapOvr>
  <mc:AlternateContent xmlns:mc="http://schemas.openxmlformats.org/markup-compatibility/2006">
    <mc:Choice xmlns:p14="http://schemas.microsoft.com/office/powerpoint/2010/main" Requires="p14">
      <p:transition spd="slow" p14:dur="2000" advTm="84085"/>
    </mc:Choice>
    <mc:Fallback>
      <p:transition spd="slow" advTm="84085"/>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2"/>
                </p:tgtEl>
              </p:cMediaNode>
            </p:audi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AA77D7-6146-FCCD-1CB1-E6A16F79CD6C}"/>
              </a:ext>
            </a:extLst>
          </p:cNvPr>
          <p:cNvSpPr>
            <a:spLocks noGrp="1"/>
          </p:cNvSpPr>
          <p:nvPr>
            <p:ph type="title"/>
          </p:nvPr>
        </p:nvSpPr>
        <p:spPr/>
        <p:txBody>
          <a:bodyPr/>
          <a:lstStyle/>
          <a:p>
            <a:r>
              <a:rPr lang="en-GB" dirty="0"/>
              <a:t>Post-Quantum Cryptography (PQC) and the NIST Transition</a:t>
            </a:r>
          </a:p>
        </p:txBody>
      </p:sp>
      <p:sp>
        <p:nvSpPr>
          <p:cNvPr id="3" name="Content Placeholder 2">
            <a:extLst>
              <a:ext uri="{FF2B5EF4-FFF2-40B4-BE49-F238E27FC236}">
                <a16:creationId xmlns:a16="http://schemas.microsoft.com/office/drawing/2014/main" id="{12F981A7-F142-65AD-55F4-35591708EA37}"/>
              </a:ext>
            </a:extLst>
          </p:cNvPr>
          <p:cNvSpPr>
            <a:spLocks noGrp="1"/>
          </p:cNvSpPr>
          <p:nvPr>
            <p:ph idx="1"/>
          </p:nvPr>
        </p:nvSpPr>
        <p:spPr/>
        <p:txBody>
          <a:bodyPr>
            <a:normAutofit fontScale="85000" lnSpcReduction="10000"/>
          </a:bodyPr>
          <a:lstStyle/>
          <a:p>
            <a:pPr marL="0" indent="0">
              <a:buNone/>
            </a:pPr>
            <a:r>
              <a:rPr lang="en-GB" dirty="0"/>
              <a:t>PQC (or Quantum-Resistant Cryptography) consists of new mathematical algorithms secure against attacks by both classical and quantum computers.</a:t>
            </a:r>
          </a:p>
          <a:p>
            <a:pPr marL="0" indent="0">
              <a:buNone/>
            </a:pPr>
            <a:r>
              <a:rPr lang="en-GB" b="1" dirty="0"/>
              <a:t>Standardisation</a:t>
            </a:r>
            <a:r>
              <a:rPr lang="en-GB" b="1"/>
              <a:t>: </a:t>
            </a:r>
          </a:p>
          <a:p>
            <a:pPr marL="0" indent="0">
              <a:buNone/>
            </a:pPr>
            <a:r>
              <a:rPr lang="en-GB" b="1"/>
              <a:t>NIST </a:t>
            </a:r>
            <a:r>
              <a:rPr lang="en-GB" b="1" dirty="0"/>
              <a:t>PQC Standardization Project:</a:t>
            </a:r>
            <a:r>
              <a:rPr lang="en-GB" dirty="0"/>
              <a:t> The U.S. National Institute of Standards and Technology (NIST) led a multi-year global effort to select and standardize new PQC algorithms. </a:t>
            </a:r>
          </a:p>
          <a:p>
            <a:pPr marL="0" indent="0">
              <a:buNone/>
            </a:pPr>
            <a:r>
              <a:rPr lang="en-GB" b="1" dirty="0"/>
              <a:t>Primary Standards (FIPS 203, 204, 205):</a:t>
            </a:r>
            <a:r>
              <a:rPr lang="en-GB" dirty="0"/>
              <a:t> </a:t>
            </a:r>
            <a:r>
              <a:rPr lang="en-GB" b="1" dirty="0"/>
              <a:t>ML-KEM</a:t>
            </a:r>
            <a:r>
              <a:rPr lang="en-GB" dirty="0"/>
              <a:t> (Key Encapsulation) and </a:t>
            </a:r>
            <a:r>
              <a:rPr lang="en-GB" b="1" dirty="0"/>
              <a:t>ML-DSA</a:t>
            </a:r>
            <a:r>
              <a:rPr lang="en-GB" dirty="0"/>
              <a:t> / </a:t>
            </a:r>
            <a:r>
              <a:rPr lang="en-GB" b="1" dirty="0"/>
              <a:t>SLH-DSA</a:t>
            </a:r>
            <a:r>
              <a:rPr lang="en-GB" dirty="0"/>
              <a:t> (Digital Signatures). These are primarily based on </a:t>
            </a:r>
            <a:r>
              <a:rPr lang="en-GB" b="1" dirty="0"/>
              <a:t>Lattice-based cryptography</a:t>
            </a:r>
          </a:p>
          <a:p>
            <a:pPr marL="0" indent="0">
              <a:buNone/>
            </a:pPr>
            <a:r>
              <a:rPr lang="en-GB" b="1" dirty="0"/>
              <a:t>Challenge: Cryptographic Agility:</a:t>
            </a:r>
            <a:r>
              <a:rPr lang="en-GB" dirty="0"/>
              <a:t> Organizations must develop the ability to rapidly swap out cryptographic modules across all systems—a complex, multi-year, and costly IT migration effort.</a:t>
            </a:r>
            <a:endParaRPr lang="en-GB" b="1" dirty="0"/>
          </a:p>
        </p:txBody>
      </p:sp>
      <p:sp>
        <p:nvSpPr>
          <p:cNvPr id="4" name="TextBox 3">
            <a:extLst>
              <a:ext uri="{FF2B5EF4-FFF2-40B4-BE49-F238E27FC236}">
                <a16:creationId xmlns:a16="http://schemas.microsoft.com/office/drawing/2014/main" id="{6C731425-D9FC-E5EC-BB6C-7637A5698523}"/>
              </a:ext>
            </a:extLst>
          </p:cNvPr>
          <p:cNvSpPr txBox="1"/>
          <p:nvPr/>
        </p:nvSpPr>
        <p:spPr>
          <a:xfrm>
            <a:off x="116378" y="6248400"/>
            <a:ext cx="6168043" cy="369332"/>
          </a:xfrm>
          <a:prstGeom prst="rect">
            <a:avLst/>
          </a:prstGeom>
          <a:noFill/>
        </p:spPr>
        <p:txBody>
          <a:bodyPr wrap="square" rtlCol="0">
            <a:spAutoFit/>
          </a:bodyPr>
          <a:lstStyle/>
          <a:p>
            <a:r>
              <a:rPr lang="en-GB" dirty="0"/>
              <a:t>(NIST, 2024)</a:t>
            </a:r>
          </a:p>
        </p:txBody>
      </p:sp>
      <p:pic>
        <p:nvPicPr>
          <p:cNvPr id="10" name="Audio 9">
            <a:extLst>
              <a:ext uri="{FF2B5EF4-FFF2-40B4-BE49-F238E27FC236}">
                <a16:creationId xmlns:a16="http://schemas.microsoft.com/office/drawing/2014/main" id="{E30EF279-BED8-98F9-BC93-D3799F60883C}"/>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1163300" y="5829300"/>
            <a:ext cx="812800" cy="812800"/>
          </a:xfrm>
          <a:prstGeom prst="rect">
            <a:avLst/>
          </a:prstGeom>
        </p:spPr>
      </p:pic>
    </p:spTree>
    <p:extLst>
      <p:ext uri="{BB962C8B-B14F-4D97-AF65-F5344CB8AC3E}">
        <p14:creationId xmlns:p14="http://schemas.microsoft.com/office/powerpoint/2010/main" val="3683044942"/>
      </p:ext>
    </p:extLst>
  </p:cSld>
  <p:clrMapOvr>
    <a:masterClrMapping/>
  </p:clrMapOvr>
  <mc:AlternateContent xmlns:mc="http://schemas.openxmlformats.org/markup-compatibility/2006">
    <mc:Choice xmlns:p14="http://schemas.microsoft.com/office/powerpoint/2010/main" Requires="p14">
      <p:transition spd="slow" p14:dur="2000" advTm="89642"/>
    </mc:Choice>
    <mc:Fallback>
      <p:transition spd="slow" advTm="89642"/>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0"/>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0"/>
                </p:tgtEl>
              </p:cMediaNode>
            </p:audio>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863981-5885-F927-4D35-DEA2206CC15F}"/>
              </a:ext>
            </a:extLst>
          </p:cNvPr>
          <p:cNvSpPr>
            <a:spLocks noGrp="1"/>
          </p:cNvSpPr>
          <p:nvPr>
            <p:ph type="title"/>
          </p:nvPr>
        </p:nvSpPr>
        <p:spPr/>
        <p:txBody>
          <a:bodyPr/>
          <a:lstStyle/>
          <a:p>
            <a:r>
              <a:rPr lang="en-GB" dirty="0"/>
              <a:t>Governing Security: The NIST PQC Migration Roadmap</a:t>
            </a:r>
          </a:p>
        </p:txBody>
      </p:sp>
      <p:sp>
        <p:nvSpPr>
          <p:cNvPr id="3" name="Content Placeholder 2">
            <a:extLst>
              <a:ext uri="{FF2B5EF4-FFF2-40B4-BE49-F238E27FC236}">
                <a16:creationId xmlns:a16="http://schemas.microsoft.com/office/drawing/2014/main" id="{28F6DD5D-DC71-53C2-EAF0-887CB618ACEE}"/>
              </a:ext>
            </a:extLst>
          </p:cNvPr>
          <p:cNvSpPr>
            <a:spLocks noGrp="1"/>
          </p:cNvSpPr>
          <p:nvPr>
            <p:ph idx="1"/>
          </p:nvPr>
        </p:nvSpPr>
        <p:spPr/>
        <p:txBody>
          <a:bodyPr>
            <a:normAutofit fontScale="77500" lnSpcReduction="20000"/>
          </a:bodyPr>
          <a:lstStyle/>
          <a:p>
            <a:pPr marL="0" indent="0">
              <a:buNone/>
            </a:pPr>
            <a:r>
              <a:rPr lang="en-GB" b="1" dirty="0"/>
              <a:t>NIST (National Institute of Standards and Technology):</a:t>
            </a:r>
            <a:r>
              <a:rPr lang="en-GB" dirty="0"/>
              <a:t> Acts as the global technical standard-setter, providing a framework for governments and industry.</a:t>
            </a:r>
          </a:p>
          <a:p>
            <a:pPr marL="0" indent="0">
              <a:buNone/>
            </a:pPr>
            <a:r>
              <a:rPr lang="en-GB" b="1" dirty="0"/>
              <a:t>Key Mandates: </a:t>
            </a:r>
          </a:p>
          <a:p>
            <a:pPr marL="457200" indent="-457200">
              <a:buFont typeface="+mj-lt"/>
              <a:buAutoNum type="arabicPeriod"/>
            </a:pPr>
            <a:r>
              <a:rPr lang="en-GB" b="1" dirty="0"/>
              <a:t>Phased Migration:</a:t>
            </a:r>
            <a:r>
              <a:rPr lang="en-GB" dirty="0"/>
              <a:t> NIST IR 8547 sets a timeline for the eventual deprecation of quantum-vulnerable algorithms (e.g., full removal by 2035). </a:t>
            </a:r>
          </a:p>
          <a:p>
            <a:pPr marL="457200" indent="-457200">
              <a:buFont typeface="+mj-lt"/>
              <a:buAutoNum type="arabicPeriod"/>
            </a:pPr>
            <a:r>
              <a:rPr lang="en-GB" b="1" dirty="0"/>
              <a:t>High-Risk Prioritization:</a:t>
            </a:r>
            <a:r>
              <a:rPr lang="en-GB" dirty="0"/>
              <a:t> Critical infrastructure and systems holding long-lived secrets must transition earliest. </a:t>
            </a:r>
          </a:p>
          <a:p>
            <a:pPr marL="457200" indent="-457200">
              <a:buFont typeface="+mj-lt"/>
              <a:buAutoNum type="arabicPeriod"/>
            </a:pPr>
            <a:r>
              <a:rPr lang="en-GB" b="1" dirty="0"/>
              <a:t>Algorithm Diversity:</a:t>
            </a:r>
            <a:r>
              <a:rPr lang="en-GB" dirty="0"/>
              <a:t> NIST promotes using diverse mathematical approaches (Lattice-based, Hash-based, Code-based) to mitigate the risk of a single vulnerability being found </a:t>
            </a:r>
          </a:p>
          <a:p>
            <a:pPr marL="0" indent="0">
              <a:buNone/>
            </a:pPr>
            <a:r>
              <a:rPr lang="en-GB" b="1" dirty="0"/>
              <a:t>Blockchain Compliance: </a:t>
            </a:r>
            <a:r>
              <a:rPr lang="en-GB" dirty="0"/>
              <a:t>PQC standards are vital for </a:t>
            </a:r>
            <a:r>
              <a:rPr lang="en-GB" b="1" dirty="0"/>
              <a:t>blockchain compliance</a:t>
            </a:r>
            <a:r>
              <a:rPr lang="en-GB" dirty="0"/>
              <a:t>. Failure to migrate the underlying ECC signatures in distributed ledger technology (DLT) would violate data integrity and financial security standards globally.</a:t>
            </a:r>
          </a:p>
        </p:txBody>
      </p:sp>
      <p:sp>
        <p:nvSpPr>
          <p:cNvPr id="4" name="TextBox 3">
            <a:extLst>
              <a:ext uri="{FF2B5EF4-FFF2-40B4-BE49-F238E27FC236}">
                <a16:creationId xmlns:a16="http://schemas.microsoft.com/office/drawing/2014/main" id="{00802A0A-6508-ECD1-8619-9CD1A4E2A3AA}"/>
              </a:ext>
            </a:extLst>
          </p:cNvPr>
          <p:cNvSpPr txBox="1"/>
          <p:nvPr/>
        </p:nvSpPr>
        <p:spPr>
          <a:xfrm>
            <a:off x="116378" y="6248400"/>
            <a:ext cx="6168043" cy="369332"/>
          </a:xfrm>
          <a:prstGeom prst="rect">
            <a:avLst/>
          </a:prstGeom>
          <a:noFill/>
        </p:spPr>
        <p:txBody>
          <a:bodyPr wrap="square" rtlCol="0">
            <a:spAutoFit/>
          </a:bodyPr>
          <a:lstStyle/>
          <a:p>
            <a:r>
              <a:rPr lang="en-GB" dirty="0"/>
              <a:t>(Brown, 2025)</a:t>
            </a:r>
          </a:p>
        </p:txBody>
      </p:sp>
      <p:pic>
        <p:nvPicPr>
          <p:cNvPr id="10" name="Audio 9">
            <a:extLst>
              <a:ext uri="{FF2B5EF4-FFF2-40B4-BE49-F238E27FC236}">
                <a16:creationId xmlns:a16="http://schemas.microsoft.com/office/drawing/2014/main" id="{DA89AEEE-C9ED-92C8-03F1-39B08EF176D8}"/>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1163300" y="5829300"/>
            <a:ext cx="812800" cy="812800"/>
          </a:xfrm>
          <a:prstGeom prst="rect">
            <a:avLst/>
          </a:prstGeom>
        </p:spPr>
      </p:pic>
    </p:spTree>
    <p:extLst>
      <p:ext uri="{BB962C8B-B14F-4D97-AF65-F5344CB8AC3E}">
        <p14:creationId xmlns:p14="http://schemas.microsoft.com/office/powerpoint/2010/main" val="2625468317"/>
      </p:ext>
    </p:extLst>
  </p:cSld>
  <p:clrMapOvr>
    <a:masterClrMapping/>
  </p:clrMapOvr>
  <mc:AlternateContent xmlns:mc="http://schemas.openxmlformats.org/markup-compatibility/2006">
    <mc:Choice xmlns:p14="http://schemas.microsoft.com/office/powerpoint/2010/main" Requires="p14">
      <p:transition spd="slow" p14:dur="2000" advTm="56417"/>
    </mc:Choice>
    <mc:Fallback>
      <p:transition spd="slow" advTm="56417"/>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0"/>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0"/>
                </p:tgtEl>
              </p:cMediaNode>
            </p:audio>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5B0C3A-7566-6462-1484-A9EF4C7FC5E1}"/>
              </a:ext>
            </a:extLst>
          </p:cNvPr>
          <p:cNvSpPr>
            <a:spLocks noGrp="1"/>
          </p:cNvSpPr>
          <p:nvPr>
            <p:ph type="title"/>
          </p:nvPr>
        </p:nvSpPr>
        <p:spPr/>
        <p:txBody>
          <a:bodyPr/>
          <a:lstStyle/>
          <a:p>
            <a:r>
              <a:rPr lang="en-GB" dirty="0"/>
              <a:t>Governing Ethics: WEF and Data Protection Frameworks</a:t>
            </a:r>
          </a:p>
        </p:txBody>
      </p:sp>
      <p:sp>
        <p:nvSpPr>
          <p:cNvPr id="3" name="Content Placeholder 2">
            <a:extLst>
              <a:ext uri="{FF2B5EF4-FFF2-40B4-BE49-F238E27FC236}">
                <a16:creationId xmlns:a16="http://schemas.microsoft.com/office/drawing/2014/main" id="{77172413-DD7C-7493-0BBB-EF4835FFE332}"/>
              </a:ext>
            </a:extLst>
          </p:cNvPr>
          <p:cNvSpPr>
            <a:spLocks noGrp="1"/>
          </p:cNvSpPr>
          <p:nvPr>
            <p:ph idx="1"/>
          </p:nvPr>
        </p:nvSpPr>
        <p:spPr/>
        <p:txBody>
          <a:bodyPr>
            <a:normAutofit fontScale="85000" lnSpcReduction="20000"/>
          </a:bodyPr>
          <a:lstStyle/>
          <a:p>
            <a:pPr marL="0" indent="0">
              <a:buNone/>
            </a:pPr>
            <a:r>
              <a:rPr lang="en-GB" b="1" dirty="0"/>
              <a:t>WEF (World Economic Forum) Quantum Computing Governance Principles:</a:t>
            </a:r>
            <a:r>
              <a:rPr lang="en-GB" dirty="0"/>
              <a:t> A multi-stakeholder initiative focused on ethical development </a:t>
            </a:r>
            <a:r>
              <a:rPr lang="en-GB" i="1" dirty="0"/>
              <a:t>before</a:t>
            </a:r>
            <a:r>
              <a:rPr lang="en-GB" dirty="0"/>
              <a:t> commercialization</a:t>
            </a:r>
          </a:p>
          <a:p>
            <a:pPr marL="0" indent="0">
              <a:buNone/>
            </a:pPr>
            <a:r>
              <a:rPr lang="en-GB" b="1" dirty="0"/>
              <a:t>Key Principles:</a:t>
            </a:r>
          </a:p>
          <a:p>
            <a:pPr marL="457200" indent="-457200">
              <a:buFont typeface="+mj-lt"/>
              <a:buAutoNum type="arabicPeriod"/>
            </a:pPr>
            <a:r>
              <a:rPr lang="en-GB" b="1" dirty="0"/>
              <a:t>Global Equity:</a:t>
            </a:r>
            <a:r>
              <a:rPr lang="en-GB" dirty="0"/>
              <a:t> Ensuring the benefits and resources of QC are distributed fairly, not exacerbating socio-economic divides. </a:t>
            </a:r>
          </a:p>
          <a:p>
            <a:pPr marL="457200" indent="-457200">
              <a:buFont typeface="+mj-lt"/>
              <a:buAutoNum type="arabicPeriod"/>
            </a:pPr>
            <a:r>
              <a:rPr lang="en-GB" b="1" dirty="0"/>
              <a:t>Transparency &amp; Accountability:</a:t>
            </a:r>
            <a:r>
              <a:rPr lang="en-GB" dirty="0"/>
              <a:t> Addressing the "black box" nature of complex quantum algorithms to ensure decisions are auditable.</a:t>
            </a:r>
          </a:p>
          <a:p>
            <a:pPr marL="0" indent="0">
              <a:buNone/>
            </a:pPr>
            <a:r>
              <a:rPr lang="en-GB" b="1" dirty="0"/>
              <a:t>GDPR Relevance: Data Processed by QC:</a:t>
            </a:r>
            <a:r>
              <a:rPr lang="en-GB" dirty="0"/>
              <a:t> Although focused on AI, principles of the GDPR apply to data processed or generated by quantum systems. QC-processed data must still meet: </a:t>
            </a:r>
            <a:r>
              <a:rPr lang="en-GB" b="1" dirty="0"/>
              <a:t>Lawfulness, Fairness, and Transparency</a:t>
            </a:r>
            <a:r>
              <a:rPr lang="en-GB" dirty="0"/>
              <a:t> (Article 5) and </a:t>
            </a:r>
            <a:r>
              <a:rPr lang="en-GB" b="1" dirty="0"/>
              <a:t>Security</a:t>
            </a:r>
            <a:r>
              <a:rPr lang="en-GB" dirty="0"/>
              <a:t> (Article 32). A quantum system failing to correctly handle PII would be a direct GDPR violation.</a:t>
            </a:r>
            <a:endParaRPr lang="en-GB" b="1" dirty="0"/>
          </a:p>
        </p:txBody>
      </p:sp>
      <p:sp>
        <p:nvSpPr>
          <p:cNvPr id="4" name="TextBox 3">
            <a:extLst>
              <a:ext uri="{FF2B5EF4-FFF2-40B4-BE49-F238E27FC236}">
                <a16:creationId xmlns:a16="http://schemas.microsoft.com/office/drawing/2014/main" id="{CE1CB06A-835D-0457-2B5A-354544FA9441}"/>
              </a:ext>
            </a:extLst>
          </p:cNvPr>
          <p:cNvSpPr txBox="1"/>
          <p:nvPr/>
        </p:nvSpPr>
        <p:spPr>
          <a:xfrm>
            <a:off x="116378" y="6248400"/>
            <a:ext cx="6168043" cy="369332"/>
          </a:xfrm>
          <a:prstGeom prst="rect">
            <a:avLst/>
          </a:prstGeom>
          <a:noFill/>
        </p:spPr>
        <p:txBody>
          <a:bodyPr wrap="square" rtlCol="0">
            <a:spAutoFit/>
          </a:bodyPr>
          <a:lstStyle/>
          <a:p>
            <a:r>
              <a:rPr lang="en-GB" dirty="0"/>
              <a:t>(Chen, 2025) and (Wilson, 2025)</a:t>
            </a:r>
          </a:p>
        </p:txBody>
      </p:sp>
      <p:pic>
        <p:nvPicPr>
          <p:cNvPr id="8" name="Audio 7">
            <a:extLst>
              <a:ext uri="{FF2B5EF4-FFF2-40B4-BE49-F238E27FC236}">
                <a16:creationId xmlns:a16="http://schemas.microsoft.com/office/drawing/2014/main" id="{14DEE293-56BA-95F5-8FE3-D64AC6D76165}"/>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1163300" y="5829300"/>
            <a:ext cx="812800" cy="812800"/>
          </a:xfrm>
          <a:prstGeom prst="rect">
            <a:avLst/>
          </a:prstGeom>
        </p:spPr>
      </p:pic>
    </p:spTree>
    <p:extLst>
      <p:ext uri="{BB962C8B-B14F-4D97-AF65-F5344CB8AC3E}">
        <p14:creationId xmlns:p14="http://schemas.microsoft.com/office/powerpoint/2010/main" val="1100885909"/>
      </p:ext>
    </p:extLst>
  </p:cSld>
  <p:clrMapOvr>
    <a:masterClrMapping/>
  </p:clrMapOvr>
  <mc:AlternateContent xmlns:mc="http://schemas.openxmlformats.org/markup-compatibility/2006">
    <mc:Choice xmlns:p14="http://schemas.microsoft.com/office/powerpoint/2010/main" Requires="p14">
      <p:transition spd="slow" p14:dur="2000" advTm="62261"/>
    </mc:Choice>
    <mc:Fallback>
      <p:transition spd="slow" advTm="62261"/>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8"/>
                </p:tgtEl>
              </p:cMediaNode>
            </p:audio>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E29D12-AB7D-CD08-0A7F-312D9B8F1176}"/>
              </a:ext>
            </a:extLst>
          </p:cNvPr>
          <p:cNvSpPr>
            <a:spLocks noGrp="1"/>
          </p:cNvSpPr>
          <p:nvPr>
            <p:ph type="title"/>
          </p:nvPr>
        </p:nvSpPr>
        <p:spPr/>
        <p:txBody>
          <a:bodyPr/>
          <a:lstStyle/>
          <a:p>
            <a:r>
              <a:rPr lang="en-GB" dirty="0"/>
              <a:t>Societal Impact: Ethical Challenges of the Quantum Era</a:t>
            </a:r>
          </a:p>
        </p:txBody>
      </p:sp>
      <p:sp>
        <p:nvSpPr>
          <p:cNvPr id="3" name="Content Placeholder 2">
            <a:extLst>
              <a:ext uri="{FF2B5EF4-FFF2-40B4-BE49-F238E27FC236}">
                <a16:creationId xmlns:a16="http://schemas.microsoft.com/office/drawing/2014/main" id="{EF7D4E1F-39C2-05E1-19F0-6F1DADE8A443}"/>
              </a:ext>
            </a:extLst>
          </p:cNvPr>
          <p:cNvSpPr>
            <a:spLocks noGrp="1"/>
          </p:cNvSpPr>
          <p:nvPr>
            <p:ph idx="1"/>
          </p:nvPr>
        </p:nvSpPr>
        <p:spPr/>
        <p:txBody>
          <a:bodyPr>
            <a:normAutofit fontScale="85000" lnSpcReduction="10000"/>
          </a:bodyPr>
          <a:lstStyle/>
          <a:p>
            <a:pPr marL="0" indent="0">
              <a:buNone/>
            </a:pPr>
            <a:r>
              <a:rPr lang="en-GB" dirty="0"/>
              <a:t>Ethical Concerns:</a:t>
            </a:r>
          </a:p>
          <a:p>
            <a:pPr marL="457200" indent="-457200">
              <a:buAutoNum type="arabicPeriod"/>
            </a:pPr>
            <a:r>
              <a:rPr lang="en-GB" b="1" dirty="0"/>
              <a:t>Resource Inequality:</a:t>
            </a:r>
            <a:r>
              <a:rPr lang="en-GB" dirty="0"/>
              <a:t> The substantial financial and human capital required for QC development is concentrated among a few nations and tech giants, risking a quantum divide. </a:t>
            </a:r>
            <a:endParaRPr lang="en-GB" b="1" dirty="0"/>
          </a:p>
          <a:p>
            <a:pPr marL="457200" indent="-457200">
              <a:buAutoNum type="arabicPeriod"/>
            </a:pPr>
            <a:r>
              <a:rPr lang="en-GB" b="1" dirty="0"/>
              <a:t>Accountability &amp; Complexity:</a:t>
            </a:r>
            <a:r>
              <a:rPr lang="en-GB" dirty="0"/>
              <a:t> The inherent complexity of quantum mechanics and algorithms (e.g., superposition leading to non-deterministic results) makes it difficult to establish clear lines of accountability when errors or biases occur. </a:t>
            </a:r>
            <a:endParaRPr lang="en-GB" b="1" dirty="0"/>
          </a:p>
          <a:p>
            <a:pPr marL="457200" indent="-457200">
              <a:buAutoNum type="arabicPeriod"/>
            </a:pPr>
            <a:r>
              <a:rPr lang="en-GB" b="1" dirty="0"/>
              <a:t>Misuse of Power:</a:t>
            </a:r>
            <a:r>
              <a:rPr lang="en-GB" dirty="0"/>
              <a:t> The potential for a nation or group to gain </a:t>
            </a:r>
            <a:r>
              <a:rPr lang="en-GB" b="1" dirty="0"/>
              <a:t>quantum supremacy</a:t>
            </a:r>
            <a:r>
              <a:rPr lang="en-GB" dirty="0"/>
              <a:t> first, giving them a disproportionate geopolitical advantage in intelligence and defence.</a:t>
            </a:r>
          </a:p>
          <a:p>
            <a:pPr marL="0" indent="0">
              <a:buNone/>
            </a:pPr>
            <a:r>
              <a:rPr lang="en-GB" b="1" dirty="0"/>
              <a:t>Mitigation: Regulation-by-Application -</a:t>
            </a:r>
            <a:r>
              <a:rPr lang="en-GB" dirty="0"/>
              <a:t> Adopting tailored ethical frameworks based on the specific use case (e.g., stricter governance for QC in defence vs. materials science).</a:t>
            </a:r>
            <a:endParaRPr lang="en-GB" b="1" dirty="0"/>
          </a:p>
        </p:txBody>
      </p:sp>
      <p:sp>
        <p:nvSpPr>
          <p:cNvPr id="4" name="TextBox 3">
            <a:extLst>
              <a:ext uri="{FF2B5EF4-FFF2-40B4-BE49-F238E27FC236}">
                <a16:creationId xmlns:a16="http://schemas.microsoft.com/office/drawing/2014/main" id="{53C23CEA-957E-F59F-7392-64A1C785735C}"/>
              </a:ext>
            </a:extLst>
          </p:cNvPr>
          <p:cNvSpPr txBox="1"/>
          <p:nvPr/>
        </p:nvSpPr>
        <p:spPr>
          <a:xfrm>
            <a:off x="116378" y="6248400"/>
            <a:ext cx="6168043" cy="369332"/>
          </a:xfrm>
          <a:prstGeom prst="rect">
            <a:avLst/>
          </a:prstGeom>
          <a:noFill/>
        </p:spPr>
        <p:txBody>
          <a:bodyPr wrap="square" rtlCol="0">
            <a:spAutoFit/>
          </a:bodyPr>
          <a:lstStyle/>
          <a:p>
            <a:r>
              <a:rPr lang="en-GB" dirty="0"/>
              <a:t>(World Economic Forum, 2022)</a:t>
            </a:r>
          </a:p>
        </p:txBody>
      </p:sp>
      <p:pic>
        <p:nvPicPr>
          <p:cNvPr id="7" name="Audio 6">
            <a:extLst>
              <a:ext uri="{FF2B5EF4-FFF2-40B4-BE49-F238E27FC236}">
                <a16:creationId xmlns:a16="http://schemas.microsoft.com/office/drawing/2014/main" id="{B619FB45-F9DA-42DF-9AE4-F57E1BEC57EB}"/>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1163300" y="5829300"/>
            <a:ext cx="812800" cy="812800"/>
          </a:xfrm>
          <a:prstGeom prst="rect">
            <a:avLst/>
          </a:prstGeom>
        </p:spPr>
      </p:pic>
    </p:spTree>
    <p:extLst>
      <p:ext uri="{BB962C8B-B14F-4D97-AF65-F5344CB8AC3E}">
        <p14:creationId xmlns:p14="http://schemas.microsoft.com/office/powerpoint/2010/main" val="3063859095"/>
      </p:ext>
    </p:extLst>
  </p:cSld>
  <p:clrMapOvr>
    <a:masterClrMapping/>
  </p:clrMapOvr>
  <mc:AlternateContent xmlns:mc="http://schemas.openxmlformats.org/markup-compatibility/2006">
    <mc:Choice xmlns:p14="http://schemas.microsoft.com/office/powerpoint/2010/main" Requires="p14">
      <p:transition spd="slow" p14:dur="2000" advTm="52736"/>
    </mc:Choice>
    <mc:Fallback>
      <p:transition spd="slow" advTm="52736"/>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7"/>
                </p:tgtEl>
              </p:cMediaNode>
            </p:audio>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2BD606-04DA-5073-E806-BEF3D7DC87E3}"/>
              </a:ext>
            </a:extLst>
          </p:cNvPr>
          <p:cNvSpPr>
            <a:spLocks noGrp="1"/>
          </p:cNvSpPr>
          <p:nvPr>
            <p:ph type="title"/>
          </p:nvPr>
        </p:nvSpPr>
        <p:spPr/>
        <p:txBody>
          <a:bodyPr/>
          <a:lstStyle/>
          <a:p>
            <a:r>
              <a:rPr lang="en-GB" dirty="0"/>
              <a:t>Case Study: The Challenge of Qubit Error Correction</a:t>
            </a:r>
          </a:p>
        </p:txBody>
      </p:sp>
      <p:sp>
        <p:nvSpPr>
          <p:cNvPr id="3" name="Content Placeholder 2">
            <a:extLst>
              <a:ext uri="{FF2B5EF4-FFF2-40B4-BE49-F238E27FC236}">
                <a16:creationId xmlns:a16="http://schemas.microsoft.com/office/drawing/2014/main" id="{A4E0240C-FB26-EBEA-6D75-463AE26DF6DF}"/>
              </a:ext>
            </a:extLst>
          </p:cNvPr>
          <p:cNvSpPr>
            <a:spLocks noGrp="1"/>
          </p:cNvSpPr>
          <p:nvPr>
            <p:ph idx="1"/>
          </p:nvPr>
        </p:nvSpPr>
        <p:spPr/>
        <p:txBody>
          <a:bodyPr>
            <a:normAutofit fontScale="92500" lnSpcReduction="20000"/>
          </a:bodyPr>
          <a:lstStyle/>
          <a:p>
            <a:pPr marL="0" indent="0">
              <a:buNone/>
            </a:pPr>
            <a:r>
              <a:rPr lang="en-GB" b="1" dirty="0"/>
              <a:t>Problem: Qubit Instability -</a:t>
            </a:r>
            <a:r>
              <a:rPr lang="en-GB" dirty="0"/>
              <a:t>Current qubits are extremely sensitive to noise, requiring continuous, time-consuming </a:t>
            </a:r>
            <a:r>
              <a:rPr lang="en-GB" b="1" dirty="0"/>
              <a:t>calibration</a:t>
            </a:r>
            <a:r>
              <a:rPr lang="en-GB" dirty="0"/>
              <a:t> and </a:t>
            </a:r>
            <a:r>
              <a:rPr lang="en-GB" b="1" dirty="0"/>
              <a:t>error correction</a:t>
            </a:r>
            <a:r>
              <a:rPr lang="en-GB" dirty="0"/>
              <a:t> to maintain coherence. This operational challenge severely limits the number of qubits and the duration of computations (the </a:t>
            </a:r>
            <a:r>
              <a:rPr lang="en-GB" b="1" dirty="0"/>
              <a:t>Noisy Intermediate-Scale Quantum – NISQ</a:t>
            </a:r>
            <a:r>
              <a:rPr lang="en-GB" dirty="0"/>
              <a:t> era).</a:t>
            </a:r>
          </a:p>
          <a:p>
            <a:pPr marL="0" indent="0">
              <a:buNone/>
            </a:pPr>
            <a:r>
              <a:rPr lang="en-GB" b="1" dirty="0"/>
              <a:t>Solution: </a:t>
            </a:r>
            <a:r>
              <a:rPr lang="en-GB" dirty="0"/>
              <a:t>Collaboration using </a:t>
            </a:r>
            <a:r>
              <a:rPr lang="en-GB" b="1" dirty="0"/>
              <a:t>Machine Learning (Bayesian Optimization)</a:t>
            </a:r>
            <a:r>
              <a:rPr lang="en-GB" dirty="0"/>
              <a:t> to automate and accelerate qubit calibration routines. </a:t>
            </a:r>
            <a:r>
              <a:rPr lang="en-GB" b="1" dirty="0"/>
              <a:t>Result:</a:t>
            </a:r>
            <a:r>
              <a:rPr lang="en-GB" dirty="0"/>
              <a:t> Demonstrated a </a:t>
            </a:r>
            <a:r>
              <a:rPr lang="en-GB" b="1" dirty="0"/>
              <a:t>100x speed increase</a:t>
            </a:r>
            <a:r>
              <a:rPr lang="en-GB" dirty="0"/>
              <a:t> in calibration, reducing the operational bottleneck and paving the way for larger, more stable quantum systems.</a:t>
            </a:r>
          </a:p>
          <a:p>
            <a:pPr marL="0" indent="0">
              <a:buNone/>
            </a:pPr>
            <a:r>
              <a:rPr lang="en-GB" b="1" dirty="0"/>
              <a:t>Relevance: </a:t>
            </a:r>
            <a:r>
              <a:rPr lang="en-GB" dirty="0"/>
              <a:t>This illustrates the need for </a:t>
            </a:r>
            <a:r>
              <a:rPr lang="en-GB" b="1" dirty="0"/>
              <a:t>hybrid classical-quantum systems</a:t>
            </a:r>
            <a:r>
              <a:rPr lang="en-GB" dirty="0"/>
              <a:t> where classical AI is used to manage and optimize the unstable quantum hardware, accelerating the path to practical quantum advantage.</a:t>
            </a:r>
            <a:endParaRPr lang="en-GB" b="1" dirty="0"/>
          </a:p>
        </p:txBody>
      </p:sp>
      <p:sp>
        <p:nvSpPr>
          <p:cNvPr id="4" name="TextBox 3">
            <a:extLst>
              <a:ext uri="{FF2B5EF4-FFF2-40B4-BE49-F238E27FC236}">
                <a16:creationId xmlns:a16="http://schemas.microsoft.com/office/drawing/2014/main" id="{F0D20F38-8ABC-DF05-46B4-C38A67ED1B3A}"/>
              </a:ext>
            </a:extLst>
          </p:cNvPr>
          <p:cNvSpPr txBox="1"/>
          <p:nvPr/>
        </p:nvSpPr>
        <p:spPr>
          <a:xfrm>
            <a:off x="116378" y="6248400"/>
            <a:ext cx="6168043" cy="369332"/>
          </a:xfrm>
          <a:prstGeom prst="rect">
            <a:avLst/>
          </a:prstGeom>
          <a:noFill/>
        </p:spPr>
        <p:txBody>
          <a:bodyPr wrap="square" rtlCol="0">
            <a:spAutoFit/>
          </a:bodyPr>
          <a:lstStyle/>
          <a:p>
            <a:r>
              <a:rPr lang="en-GB" dirty="0"/>
              <a:t>(OECD, 2025) and (Lee, 2025)</a:t>
            </a:r>
          </a:p>
        </p:txBody>
      </p:sp>
      <p:pic>
        <p:nvPicPr>
          <p:cNvPr id="7" name="Audio 6">
            <a:extLst>
              <a:ext uri="{FF2B5EF4-FFF2-40B4-BE49-F238E27FC236}">
                <a16:creationId xmlns:a16="http://schemas.microsoft.com/office/drawing/2014/main" id="{19F5D7FD-4F81-7A9C-D61C-06BFCD74A983}"/>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1163300" y="5829300"/>
            <a:ext cx="812800" cy="812800"/>
          </a:xfrm>
          <a:prstGeom prst="rect">
            <a:avLst/>
          </a:prstGeom>
        </p:spPr>
      </p:pic>
    </p:spTree>
    <p:extLst>
      <p:ext uri="{BB962C8B-B14F-4D97-AF65-F5344CB8AC3E}">
        <p14:creationId xmlns:p14="http://schemas.microsoft.com/office/powerpoint/2010/main" val="2816667246"/>
      </p:ext>
    </p:extLst>
  </p:cSld>
  <p:clrMapOvr>
    <a:masterClrMapping/>
  </p:clrMapOvr>
  <mc:AlternateContent xmlns:mc="http://schemas.openxmlformats.org/markup-compatibility/2006">
    <mc:Choice xmlns:p14="http://schemas.microsoft.com/office/powerpoint/2010/main" Requires="p14">
      <p:transition spd="slow" p14:dur="2000" advTm="55222"/>
    </mc:Choice>
    <mc:Fallback>
      <p:transition spd="slow" advTm="55222"/>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7"/>
                </p:tgtEl>
              </p:cMediaNode>
            </p:audio>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45EDA3-79E9-4A65-D5C5-9EB665586537}"/>
              </a:ext>
            </a:extLst>
          </p:cNvPr>
          <p:cNvSpPr>
            <a:spLocks noGrp="1"/>
          </p:cNvSpPr>
          <p:nvPr>
            <p:ph type="title"/>
          </p:nvPr>
        </p:nvSpPr>
        <p:spPr>
          <a:xfrm>
            <a:off x="0" y="-155171"/>
            <a:ext cx="9905998" cy="1905000"/>
          </a:xfrm>
        </p:spPr>
        <p:txBody>
          <a:bodyPr/>
          <a:lstStyle/>
          <a:p>
            <a:r>
              <a:rPr lang="en-GB" dirty="0"/>
              <a:t>Summary and References</a:t>
            </a:r>
          </a:p>
        </p:txBody>
      </p:sp>
      <p:sp>
        <p:nvSpPr>
          <p:cNvPr id="5" name="TextBox 4">
            <a:extLst>
              <a:ext uri="{FF2B5EF4-FFF2-40B4-BE49-F238E27FC236}">
                <a16:creationId xmlns:a16="http://schemas.microsoft.com/office/drawing/2014/main" id="{68657388-2309-8F75-5EAB-1E83C916354E}"/>
              </a:ext>
            </a:extLst>
          </p:cNvPr>
          <p:cNvSpPr txBox="1"/>
          <p:nvPr/>
        </p:nvSpPr>
        <p:spPr>
          <a:xfrm>
            <a:off x="0" y="1235581"/>
            <a:ext cx="12192000" cy="5755422"/>
          </a:xfrm>
          <a:prstGeom prst="rect">
            <a:avLst/>
          </a:prstGeom>
          <a:noFill/>
        </p:spPr>
        <p:txBody>
          <a:bodyPr wrap="square">
            <a:spAutoFit/>
          </a:bodyPr>
          <a:lstStyle/>
          <a:p>
            <a:pPr rtl="0">
              <a:spcAft>
                <a:spcPts val="1200"/>
              </a:spcAft>
              <a:buNone/>
            </a:pPr>
            <a:r>
              <a:rPr lang="en-GB" sz="1050" b="1" dirty="0">
                <a:effectLst/>
                <a:latin typeface="Google Sans"/>
              </a:rPr>
              <a:t>Bibliography </a:t>
            </a:r>
          </a:p>
          <a:p>
            <a:pPr rtl="0">
              <a:spcAft>
                <a:spcPts val="600"/>
              </a:spcAft>
              <a:buNone/>
            </a:pPr>
            <a:r>
              <a:rPr lang="en-GB" sz="1050" b="1" dirty="0">
                <a:effectLst/>
                <a:latin typeface="Google Sans Text"/>
              </a:rPr>
              <a:t>Al-</a:t>
            </a:r>
            <a:r>
              <a:rPr lang="en-GB" sz="1050" b="1" dirty="0" err="1">
                <a:effectLst/>
                <a:latin typeface="Google Sans Text"/>
              </a:rPr>
              <a:t>Janabi</a:t>
            </a:r>
            <a:r>
              <a:rPr lang="en-GB" sz="1050" b="1" dirty="0">
                <a:effectLst/>
                <a:latin typeface="Google Sans Text"/>
              </a:rPr>
              <a:t>, S.</a:t>
            </a:r>
            <a:r>
              <a:rPr lang="en-GB" sz="1050" dirty="0">
                <a:effectLst/>
                <a:latin typeface="Google Sans Text"/>
              </a:rPr>
              <a:t> (2025). </a:t>
            </a:r>
            <a:r>
              <a:rPr lang="en-GB" sz="1050" i="1" dirty="0">
                <a:effectLst/>
                <a:latin typeface="Google Sans Text"/>
              </a:rPr>
              <a:t>Post-Quantum Blockchain: Challenges and Opportunities for Distributed Ledger Technology</a:t>
            </a:r>
            <a:r>
              <a:rPr lang="en-GB" sz="1050" dirty="0">
                <a:effectLst/>
                <a:latin typeface="Google Sans Text"/>
              </a:rPr>
              <a:t>. arXiv:2508.17071. Available at: </a:t>
            </a:r>
            <a:r>
              <a:rPr lang="en-GB" sz="1050" dirty="0">
                <a:effectLst/>
                <a:latin typeface="Google Sans Text"/>
                <a:hlinkClick r:id="rId5">
                  <a:extLst>
                    <a:ext uri="{A12FA001-AC4F-418D-AE19-62706E023703}">
                      <ahyp:hlinkClr xmlns:ahyp="http://schemas.microsoft.com/office/drawing/2018/hyperlinkcolor" val="tx"/>
                    </a:ext>
                  </a:extLst>
                </a:hlinkClick>
              </a:rPr>
              <a:t>https://arxiv.org/abs/2508.17071</a:t>
            </a:r>
            <a:r>
              <a:rPr lang="en-GB" sz="1050" dirty="0">
                <a:effectLst/>
                <a:latin typeface="Google Sans Text"/>
              </a:rPr>
              <a:t> (Accessed: 15 December 2025).</a:t>
            </a:r>
          </a:p>
          <a:p>
            <a:pPr rtl="0">
              <a:spcAft>
                <a:spcPts val="1200"/>
              </a:spcAft>
              <a:buNone/>
            </a:pPr>
            <a:r>
              <a:rPr lang="en-GB" sz="1050" b="1" dirty="0">
                <a:effectLst/>
                <a:latin typeface="Google Sans Text"/>
              </a:rPr>
              <a:t>Gomez, D.</a:t>
            </a:r>
            <a:r>
              <a:rPr lang="en-GB" sz="1050" dirty="0">
                <a:effectLst/>
                <a:latin typeface="Google Sans Text"/>
              </a:rPr>
              <a:t> (2025). ‘Quantum Machine Learning: Towards Hybrid Quantum-Classical Vision Models’. </a:t>
            </a:r>
            <a:r>
              <a:rPr lang="en-GB" sz="1050" i="1" dirty="0">
                <a:effectLst/>
                <a:latin typeface="Google Sans Text"/>
              </a:rPr>
              <a:t>Mathematics</a:t>
            </a:r>
            <a:r>
              <a:rPr lang="en-GB" sz="1050" dirty="0">
                <a:effectLst/>
                <a:latin typeface="Google Sans Text"/>
              </a:rPr>
              <a:t>, 13(16), pp. 2645. Available at: </a:t>
            </a:r>
            <a:r>
              <a:rPr lang="en-GB" sz="1050" dirty="0">
                <a:effectLst/>
                <a:latin typeface="Google Sans Text"/>
                <a:hlinkClick r:id="rId6">
                  <a:extLst>
                    <a:ext uri="{A12FA001-AC4F-418D-AE19-62706E023703}">
                      <ahyp:hlinkClr xmlns:ahyp="http://schemas.microsoft.com/office/drawing/2018/hyperlinkcolor" val="tx"/>
                    </a:ext>
                  </a:extLst>
                </a:hlinkClick>
              </a:rPr>
              <a:t>https://www.researchgate.net/publication/394558691_Quantum_Machine_Learning_Towards_Hybrid_Quantum-Classical_Vision_Models</a:t>
            </a:r>
            <a:r>
              <a:rPr lang="en-GB" sz="1050" dirty="0">
                <a:effectLst/>
                <a:latin typeface="Google Sans Text"/>
              </a:rPr>
              <a:t> (Accessed: 15 December 2025).</a:t>
            </a:r>
          </a:p>
          <a:p>
            <a:pPr rtl="0">
              <a:spcAft>
                <a:spcPts val="1200"/>
              </a:spcAft>
              <a:buNone/>
            </a:pPr>
            <a:r>
              <a:rPr lang="en-GB" sz="1050" b="1" dirty="0">
                <a:effectLst/>
                <a:latin typeface="Google Sans Text"/>
              </a:rPr>
              <a:t>Katz, A. and Jones, B.</a:t>
            </a:r>
            <a:r>
              <a:rPr lang="en-GB" sz="1050" dirty="0">
                <a:effectLst/>
                <a:latin typeface="Google Sans Text"/>
              </a:rPr>
              <a:t> (2024). ‘Implementation and Analysis of Shor’s Algorithm for Factoring Large Semi-Primes’. </a:t>
            </a:r>
            <a:r>
              <a:rPr lang="en-GB" sz="1050" i="1" dirty="0">
                <a:effectLst/>
                <a:latin typeface="Google Sans Text"/>
              </a:rPr>
              <a:t>SN Computer Science</a:t>
            </a:r>
            <a:r>
              <a:rPr lang="en-GB" sz="1050" dirty="0">
                <a:effectLst/>
                <a:latin typeface="Google Sans Text"/>
              </a:rPr>
              <a:t>, 5(4). Available at: </a:t>
            </a:r>
            <a:r>
              <a:rPr lang="en-GB" sz="1050" dirty="0">
                <a:effectLst/>
                <a:latin typeface="Google Sans Text"/>
                <a:hlinkClick r:id="rId7">
                  <a:extLst>
                    <a:ext uri="{A12FA001-AC4F-418D-AE19-62706E023703}">
                      <ahyp:hlinkClr xmlns:ahyp="http://schemas.microsoft.com/office/drawing/2018/hyperlinkcolor" val="tx"/>
                    </a:ext>
                  </a:extLst>
                </a:hlinkClick>
              </a:rPr>
              <a:t>https://www.researchgate.net/publication/379667366_Study_on_Implementation_of_Shor's_Factorization_Algorithm_on_Quantum_Computer</a:t>
            </a:r>
            <a:r>
              <a:rPr lang="en-GB" sz="1050" dirty="0">
                <a:effectLst/>
                <a:latin typeface="Google Sans Text"/>
              </a:rPr>
              <a:t> (Accessed: 15 December 2025).</a:t>
            </a:r>
          </a:p>
          <a:p>
            <a:pPr rtl="0">
              <a:spcAft>
                <a:spcPts val="1200"/>
              </a:spcAft>
              <a:buNone/>
            </a:pPr>
            <a:r>
              <a:rPr lang="en-GB" sz="1050" b="1" dirty="0">
                <a:effectLst/>
                <a:latin typeface="Google Sans Text"/>
              </a:rPr>
              <a:t>Li, M. and Wang, Y.</a:t>
            </a:r>
            <a:r>
              <a:rPr lang="en-GB" sz="1050" dirty="0">
                <a:effectLst/>
                <a:latin typeface="Google Sans Text"/>
              </a:rPr>
              <a:t> (2025). ‘Ensuring Transparent and Compliant AI Systems in the Quantum Era: A Policy and Technical Roadmap’. Available at: </a:t>
            </a:r>
            <a:r>
              <a:rPr lang="en-GB" sz="1050" dirty="0">
                <a:effectLst/>
                <a:latin typeface="Google Sans Text"/>
                <a:hlinkClick r:id="rId8">
                  <a:extLst>
                    <a:ext uri="{A12FA001-AC4F-418D-AE19-62706E023703}">
                      <ahyp:hlinkClr xmlns:ahyp="http://schemas.microsoft.com/office/drawing/2018/hyperlinkcolor" val="tx"/>
                    </a:ext>
                  </a:extLst>
                </a:hlinkClick>
              </a:rPr>
              <a:t>https://www.researchgate.net/publication/390222251_Ensuring_Transparent_and_Compliant_AI_Systems_in_the_Quantum_Era</a:t>
            </a:r>
            <a:r>
              <a:rPr lang="en-GB" sz="1050" dirty="0">
                <a:effectLst/>
                <a:latin typeface="Google Sans Text"/>
              </a:rPr>
              <a:t> (Accessed: 15 December 2025).</a:t>
            </a:r>
          </a:p>
          <a:p>
            <a:pPr rtl="0">
              <a:spcAft>
                <a:spcPts val="1200"/>
              </a:spcAft>
              <a:buNone/>
            </a:pPr>
            <a:r>
              <a:rPr lang="en-GB" sz="1050" b="1" dirty="0">
                <a:effectLst/>
                <a:latin typeface="Google Sans Text"/>
              </a:rPr>
              <a:t>National Institute of Standards and Technology (NIST)</a:t>
            </a:r>
            <a:r>
              <a:rPr lang="en-GB" sz="1050" dirty="0">
                <a:effectLst/>
                <a:latin typeface="Google Sans Text"/>
              </a:rPr>
              <a:t> (2024). </a:t>
            </a:r>
            <a:r>
              <a:rPr lang="en-GB" sz="1050" i="1" dirty="0">
                <a:effectLst/>
                <a:latin typeface="Google Sans Text"/>
              </a:rPr>
              <a:t>Module-Lattice-Based Key-Encapsulation Mechanism Standard (FIPS 203)</a:t>
            </a:r>
            <a:r>
              <a:rPr lang="en-GB" sz="1050" dirty="0">
                <a:effectLst/>
                <a:latin typeface="Google Sans Text"/>
              </a:rPr>
              <a:t>. Gaithersburg: U.S. Department of Commerce. Available at: </a:t>
            </a:r>
            <a:r>
              <a:rPr lang="en-GB" sz="1050" dirty="0">
                <a:effectLst/>
                <a:latin typeface="Google Sans Text"/>
                <a:hlinkClick r:id="rId9">
                  <a:extLst>
                    <a:ext uri="{A12FA001-AC4F-418D-AE19-62706E023703}">
                      <ahyp:hlinkClr xmlns:ahyp="http://schemas.microsoft.com/office/drawing/2018/hyperlinkcolor" val="tx"/>
                    </a:ext>
                  </a:extLst>
                </a:hlinkClick>
              </a:rPr>
              <a:t>https://csrc.nist.gov/pubs/fips/203/final</a:t>
            </a:r>
            <a:r>
              <a:rPr lang="en-GB" sz="1050" dirty="0">
                <a:effectLst/>
                <a:latin typeface="Google Sans Text"/>
              </a:rPr>
              <a:t> (Accessed: 15 December 2025).</a:t>
            </a:r>
          </a:p>
          <a:p>
            <a:pPr rtl="0">
              <a:spcAft>
                <a:spcPts val="1200"/>
              </a:spcAft>
              <a:buNone/>
            </a:pPr>
            <a:r>
              <a:rPr lang="en-GB" sz="1050" b="1" dirty="0">
                <a:effectLst/>
                <a:latin typeface="Google Sans Text"/>
              </a:rPr>
              <a:t>National Institute of Standards and Technology (NIST)</a:t>
            </a:r>
            <a:r>
              <a:rPr lang="en-GB" sz="1050" dirty="0">
                <a:effectLst/>
                <a:latin typeface="Google Sans Text"/>
              </a:rPr>
              <a:t> (2025). </a:t>
            </a:r>
            <a:r>
              <a:rPr lang="en-GB" sz="1050" i="1" dirty="0">
                <a:effectLst/>
                <a:latin typeface="Google Sans Text"/>
              </a:rPr>
              <a:t>5 Concepts Can Help You Understand Quantum Mechanics and Technology — Without Math!</a:t>
            </a:r>
            <a:r>
              <a:rPr lang="en-GB" sz="1050" dirty="0">
                <a:effectLst/>
                <a:latin typeface="Google Sans Text"/>
              </a:rPr>
              <a:t> [Blog]. Available at: </a:t>
            </a:r>
            <a:r>
              <a:rPr lang="en-GB" sz="1050" dirty="0">
                <a:effectLst/>
                <a:latin typeface="Google Sans Text"/>
                <a:hlinkClick r:id="rId10">
                  <a:extLst>
                    <a:ext uri="{A12FA001-AC4F-418D-AE19-62706E023703}">
                      <ahyp:hlinkClr xmlns:ahyp="http://schemas.microsoft.com/office/drawing/2018/hyperlinkcolor" val="tx"/>
                    </a:ext>
                  </a:extLst>
                </a:hlinkClick>
              </a:rPr>
              <a:t>https://www.nist.gov/blogs/taking-measure/5-concepts-can-help-you-understand-quantum-mechanics-and-technology-without</a:t>
            </a:r>
            <a:r>
              <a:rPr lang="en-GB" sz="1050" dirty="0">
                <a:effectLst/>
                <a:latin typeface="Google Sans Text"/>
              </a:rPr>
              <a:t> (Accessed: 15 December 2025).</a:t>
            </a:r>
          </a:p>
          <a:p>
            <a:pPr rtl="0">
              <a:spcAft>
                <a:spcPts val="1200"/>
              </a:spcAft>
              <a:buNone/>
            </a:pPr>
            <a:r>
              <a:rPr lang="en-GB" sz="1050" b="1" dirty="0">
                <a:effectLst/>
                <a:latin typeface="Google Sans Text"/>
              </a:rPr>
              <a:t>Nielsen, M. A. and Chuang, I. L.</a:t>
            </a:r>
            <a:r>
              <a:rPr lang="en-GB" sz="1050" dirty="0">
                <a:effectLst/>
                <a:latin typeface="Google Sans Text"/>
              </a:rPr>
              <a:t> (2010). </a:t>
            </a:r>
            <a:r>
              <a:rPr lang="en-GB" sz="1050" i="1" dirty="0">
                <a:effectLst/>
                <a:latin typeface="Google Sans Text"/>
              </a:rPr>
              <a:t>Quantum Computation and Quantum Information</a:t>
            </a:r>
            <a:r>
              <a:rPr lang="en-GB" sz="1050" dirty="0">
                <a:effectLst/>
                <a:latin typeface="Google Sans Text"/>
              </a:rPr>
              <a:t>. 10th </a:t>
            </a:r>
            <a:r>
              <a:rPr lang="en-GB" sz="1050" dirty="0" err="1">
                <a:effectLst/>
                <a:latin typeface="Google Sans Text"/>
              </a:rPr>
              <a:t>edn</a:t>
            </a:r>
            <a:r>
              <a:rPr lang="en-GB" sz="1050" dirty="0">
                <a:effectLst/>
                <a:latin typeface="Google Sans Text"/>
              </a:rPr>
              <a:t>. Cambridge: Cambridge University Press. Available at: </a:t>
            </a:r>
            <a:r>
              <a:rPr lang="en-GB" sz="1050" dirty="0">
                <a:effectLst/>
                <a:latin typeface="Google Sans Text"/>
                <a:hlinkClick r:id="rId11">
                  <a:extLst>
                    <a:ext uri="{A12FA001-AC4F-418D-AE19-62706E023703}">
                      <ahyp:hlinkClr xmlns:ahyp="http://schemas.microsoft.com/office/drawing/2018/hyperlinkcolor" val="tx"/>
                    </a:ext>
                  </a:extLst>
                </a:hlinkClick>
              </a:rPr>
              <a:t>https://books.google.com/books/about/Quantum_Computation_and_Quantum_Informat.html?id=65FqEKQOfP8C</a:t>
            </a:r>
            <a:r>
              <a:rPr lang="en-GB" sz="1050" dirty="0">
                <a:effectLst/>
                <a:latin typeface="Google Sans Text"/>
              </a:rPr>
              <a:t> (Accessed: 15 December 2025).</a:t>
            </a:r>
          </a:p>
          <a:p>
            <a:pPr rtl="0">
              <a:spcAft>
                <a:spcPts val="1200"/>
              </a:spcAft>
              <a:buNone/>
            </a:pPr>
            <a:r>
              <a:rPr lang="en-GB" sz="1050" b="1" dirty="0" err="1">
                <a:effectLst/>
                <a:latin typeface="Google Sans Text"/>
              </a:rPr>
              <a:t>Olasehinde</a:t>
            </a:r>
            <a:r>
              <a:rPr lang="en-GB" sz="1050" b="1" dirty="0">
                <a:effectLst/>
                <a:latin typeface="Google Sans Text"/>
              </a:rPr>
              <a:t>, T.</a:t>
            </a:r>
            <a:r>
              <a:rPr lang="en-GB" sz="1050" dirty="0">
                <a:effectLst/>
                <a:latin typeface="Google Sans Text"/>
              </a:rPr>
              <a:t> (2023). ‘Applications of Quantum Approximate Optimization Algorithm (QAOA) in Logistics and Supply Chain Management’. Available at: </a:t>
            </a:r>
            <a:r>
              <a:rPr lang="en-GB" sz="1050" dirty="0">
                <a:effectLst/>
                <a:latin typeface="Google Sans Text"/>
                <a:hlinkClick r:id="rId12">
                  <a:extLst>
                    <a:ext uri="{A12FA001-AC4F-418D-AE19-62706E023703}">
                      <ahyp:hlinkClr xmlns:ahyp="http://schemas.microsoft.com/office/drawing/2018/hyperlinkcolor" val="tx"/>
                    </a:ext>
                  </a:extLst>
                </a:hlinkClick>
              </a:rPr>
              <a:t>https://www.researchgate.net/publication/385828331_Applications_of_Quantum_Approximate_Optimization_Algorithm_QAOA_in_Logistics_and_Supply_Chain_Management</a:t>
            </a:r>
            <a:r>
              <a:rPr lang="en-GB" sz="1050" dirty="0">
                <a:effectLst/>
                <a:latin typeface="Google Sans Text"/>
              </a:rPr>
              <a:t> (Accessed: 15 December 2025).</a:t>
            </a:r>
          </a:p>
          <a:p>
            <a:pPr rtl="0">
              <a:spcAft>
                <a:spcPts val="1200"/>
              </a:spcAft>
              <a:buNone/>
            </a:pPr>
            <a:r>
              <a:rPr lang="en-GB" sz="1050" b="1" dirty="0">
                <a:effectLst/>
                <a:latin typeface="Google Sans Text"/>
              </a:rPr>
              <a:t>Organisation for Economic Co-operation and Development (OECD)</a:t>
            </a:r>
            <a:r>
              <a:rPr lang="en-GB" sz="1050" dirty="0">
                <a:effectLst/>
                <a:latin typeface="Google Sans Text"/>
              </a:rPr>
              <a:t> (2025). </a:t>
            </a:r>
            <a:r>
              <a:rPr lang="en-GB" sz="1050" i="1" dirty="0">
                <a:effectLst/>
                <a:latin typeface="Google Sans Text"/>
              </a:rPr>
              <a:t>A quantum technologies policy primer</a:t>
            </a:r>
            <a:r>
              <a:rPr lang="en-GB" sz="1050" dirty="0">
                <a:effectLst/>
                <a:latin typeface="Google Sans Text"/>
              </a:rPr>
              <a:t>. </a:t>
            </a:r>
            <a:r>
              <a:rPr lang="en-GB" sz="1050" i="1" dirty="0">
                <a:effectLst/>
                <a:latin typeface="Google Sans Text"/>
              </a:rPr>
              <a:t>OECD Digital Economy Papers</a:t>
            </a:r>
            <a:r>
              <a:rPr lang="en-GB" sz="1050" dirty="0">
                <a:effectLst/>
                <a:latin typeface="Google Sans Text"/>
              </a:rPr>
              <a:t>, No. 371. Paris: OECD Publishing. Available at: </a:t>
            </a:r>
            <a:r>
              <a:rPr lang="en-GB" sz="1050" dirty="0">
                <a:effectLst/>
                <a:latin typeface="Google Sans Text"/>
                <a:hlinkClick r:id="rId13">
                  <a:extLst>
                    <a:ext uri="{A12FA001-AC4F-418D-AE19-62706E023703}">
                      <ahyp:hlinkClr xmlns:ahyp="http://schemas.microsoft.com/office/drawing/2018/hyperlinkcolor" val="tx"/>
                    </a:ext>
                  </a:extLst>
                </a:hlinkClick>
              </a:rPr>
              <a:t>https://ideas.repec.org/p/oec/stiaab/371-en.html</a:t>
            </a:r>
            <a:r>
              <a:rPr lang="en-GB" sz="1050" dirty="0">
                <a:effectLst/>
                <a:latin typeface="Google Sans Text"/>
              </a:rPr>
              <a:t> (Accessed: 15 December 2025).</a:t>
            </a:r>
          </a:p>
          <a:p>
            <a:pPr rtl="0">
              <a:spcAft>
                <a:spcPts val="1200"/>
              </a:spcAft>
              <a:buNone/>
            </a:pPr>
            <a:r>
              <a:rPr lang="en-GB" sz="1050" b="1" dirty="0">
                <a:effectLst/>
                <a:latin typeface="Google Sans Text"/>
              </a:rPr>
              <a:t>Smith, J. and Brown, A.</a:t>
            </a:r>
            <a:r>
              <a:rPr lang="en-GB" sz="1050" dirty="0">
                <a:effectLst/>
                <a:latin typeface="Google Sans Text"/>
              </a:rPr>
              <a:t> (2025). </a:t>
            </a:r>
            <a:r>
              <a:rPr lang="en-GB" sz="1050" i="1" dirty="0">
                <a:effectLst/>
                <a:latin typeface="Google Sans Text"/>
              </a:rPr>
              <a:t>Quantum Resource Management in the NISQ Era: Error Mitigation and Optimization Techniques</a:t>
            </a:r>
            <a:r>
              <a:rPr lang="en-GB" sz="1050" dirty="0">
                <a:effectLst/>
                <a:latin typeface="Google Sans Text"/>
              </a:rPr>
              <a:t>. Available at: </a:t>
            </a:r>
            <a:r>
              <a:rPr lang="en-GB" sz="1050" dirty="0">
                <a:effectLst/>
                <a:latin typeface="Google Sans Text"/>
                <a:hlinkClick r:id="rId14">
                  <a:extLst>
                    <a:ext uri="{A12FA001-AC4F-418D-AE19-62706E023703}">
                      <ahyp:hlinkClr xmlns:ahyp="http://schemas.microsoft.com/office/drawing/2018/hyperlinkcolor" val="tx"/>
                    </a:ext>
                  </a:extLst>
                </a:hlinkClick>
              </a:rPr>
              <a:t>https://arxiv.org/html/2508.19276v1</a:t>
            </a:r>
            <a:r>
              <a:rPr lang="en-GB" sz="1050" dirty="0">
                <a:effectLst/>
                <a:latin typeface="Google Sans Text"/>
              </a:rPr>
              <a:t> (Accessed: 15 December 2025).</a:t>
            </a:r>
          </a:p>
          <a:p>
            <a:pPr rtl="0">
              <a:spcAft>
                <a:spcPts val="1200"/>
              </a:spcAft>
              <a:buNone/>
            </a:pPr>
            <a:r>
              <a:rPr lang="en-GB" sz="1050" b="1" dirty="0">
                <a:effectLst/>
                <a:latin typeface="Google Sans Text"/>
              </a:rPr>
              <a:t>World Economic Forum (WEF)</a:t>
            </a:r>
            <a:r>
              <a:rPr lang="en-GB" sz="1050" dirty="0">
                <a:effectLst/>
                <a:latin typeface="Google Sans Text"/>
              </a:rPr>
              <a:t> (2022). </a:t>
            </a:r>
            <a:r>
              <a:rPr lang="en-GB" sz="1050" i="1" dirty="0">
                <a:effectLst/>
                <a:latin typeface="Google Sans Text"/>
              </a:rPr>
              <a:t>Quantum Computing Governance Principles</a:t>
            </a:r>
            <a:r>
              <a:rPr lang="en-GB" sz="1050" dirty="0">
                <a:effectLst/>
                <a:latin typeface="Google Sans Text"/>
              </a:rPr>
              <a:t>. Geneva: World Economic Forum. Available at: </a:t>
            </a:r>
            <a:r>
              <a:rPr lang="en-GB" sz="1050" dirty="0">
                <a:effectLst/>
                <a:latin typeface="Google Sans Text"/>
                <a:hlinkClick r:id="rId15">
                  <a:extLst>
                    <a:ext uri="{A12FA001-AC4F-418D-AE19-62706E023703}">
                      <ahyp:hlinkClr xmlns:ahyp="http://schemas.microsoft.com/office/drawing/2018/hyperlinkcolor" val="tx"/>
                    </a:ext>
                  </a:extLst>
                </a:hlinkClick>
              </a:rPr>
              <a:t>https://www.weforum.org/publications/quantum-computing-governance-principles/</a:t>
            </a:r>
            <a:r>
              <a:rPr lang="en-GB" sz="1050" dirty="0">
                <a:effectLst/>
                <a:latin typeface="Google Sans Text"/>
              </a:rPr>
              <a:t> (Accessed: 15 December 2025).</a:t>
            </a:r>
          </a:p>
          <a:p>
            <a:pPr rtl="0">
              <a:spcAft>
                <a:spcPts val="1200"/>
              </a:spcAft>
              <a:buNone/>
            </a:pPr>
            <a:r>
              <a:rPr lang="en-GB" sz="1050" b="1" dirty="0">
                <a:effectLst/>
                <a:latin typeface="Google Sans Text"/>
              </a:rPr>
              <a:t>Zhang, L.</a:t>
            </a:r>
            <a:r>
              <a:rPr lang="en-GB" sz="1050" dirty="0">
                <a:effectLst/>
                <a:latin typeface="Google Sans Text"/>
              </a:rPr>
              <a:t> (2025). ‘Quantum Computing in Drug Discovery: A Review of Current Algorithms and Future Directions’. </a:t>
            </a:r>
            <a:r>
              <a:rPr lang="en-GB" sz="1050" i="1" dirty="0">
                <a:effectLst/>
                <a:latin typeface="Google Sans Text"/>
              </a:rPr>
              <a:t>International Research Journal on Advanced Engineering and Management</a:t>
            </a:r>
            <a:r>
              <a:rPr lang="en-GB" sz="1050" dirty="0">
                <a:effectLst/>
                <a:latin typeface="Google Sans Text"/>
              </a:rPr>
              <a:t>, 3(03), pp. 770-779. Available at: </a:t>
            </a:r>
            <a:r>
              <a:rPr lang="en-GB" sz="1050" dirty="0">
                <a:effectLst/>
                <a:latin typeface="Google Sans Text"/>
                <a:hlinkClick r:id="rId16">
                  <a:extLst>
                    <a:ext uri="{A12FA001-AC4F-418D-AE19-62706E023703}">
                      <ahyp:hlinkClr xmlns:ahyp="http://schemas.microsoft.com/office/drawing/2018/hyperlinkcolor" val="tx"/>
                    </a:ext>
                  </a:extLst>
                </a:hlinkClick>
              </a:rPr>
              <a:t>https://www.researchgate.net/publication/390261779_Quantum_Computing_in_Drug_Discovery</a:t>
            </a:r>
            <a:r>
              <a:rPr lang="en-GB" sz="1050" dirty="0">
                <a:effectLst/>
                <a:latin typeface="Google Sans Text"/>
              </a:rPr>
              <a:t> (Accessed: 15 December 2025).</a:t>
            </a:r>
          </a:p>
        </p:txBody>
      </p:sp>
      <p:pic>
        <p:nvPicPr>
          <p:cNvPr id="6" name="Audio 5">
            <a:extLst>
              <a:ext uri="{FF2B5EF4-FFF2-40B4-BE49-F238E27FC236}">
                <a16:creationId xmlns:a16="http://schemas.microsoft.com/office/drawing/2014/main" id="{DD86EAF9-6DAD-C3AA-01C2-5897C32028D2}"/>
              </a:ext>
            </a:extLst>
          </p:cNvPr>
          <p:cNvPicPr>
            <a:picLocks noChangeAspect="1"/>
          </p:cNvPicPr>
          <p:nvPr>
            <a:audioFile r:link="rId2"/>
            <p:extLst>
              <p:ext uri="{DAA4B4D4-6D71-4841-9C94-3DE7FCFB9230}">
                <p14:media xmlns:p14="http://schemas.microsoft.com/office/powerpoint/2010/main" r:embed="rId1"/>
              </p:ext>
            </p:extLst>
          </p:nvPr>
        </p:nvPicPr>
        <p:blipFill>
          <a:blip r:embed="rId17"/>
          <a:stretch>
            <a:fillRect/>
          </a:stretch>
        </p:blipFill>
        <p:spPr>
          <a:xfrm>
            <a:off x="11163300" y="5829300"/>
            <a:ext cx="812800" cy="812800"/>
          </a:xfrm>
          <a:prstGeom prst="rect">
            <a:avLst/>
          </a:prstGeom>
        </p:spPr>
      </p:pic>
    </p:spTree>
    <p:extLst>
      <p:ext uri="{BB962C8B-B14F-4D97-AF65-F5344CB8AC3E}">
        <p14:creationId xmlns:p14="http://schemas.microsoft.com/office/powerpoint/2010/main" val="607462258"/>
      </p:ext>
    </p:extLst>
  </p:cSld>
  <p:clrMapOvr>
    <a:masterClrMapping/>
  </p:clrMapOvr>
  <mc:AlternateContent xmlns:mc="http://schemas.openxmlformats.org/markup-compatibility/2006">
    <mc:Choice xmlns:p14="http://schemas.microsoft.com/office/powerpoint/2010/main" Requires="p14">
      <p:transition spd="slow" p14:dur="2000" advTm="60554"/>
    </mc:Choice>
    <mc:Fallback>
      <p:transition spd="slow" advTm="60554"/>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6"/>
                </p:tgtEl>
              </p:cMediaNode>
            </p:audio>
          </p:childTnLst>
        </p:cTn>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esh">
  <a:themeElements>
    <a:clrScheme name="Mesh">
      <a:dk1>
        <a:sysClr val="windowText" lastClr="000000"/>
      </a:dk1>
      <a:lt1>
        <a:sysClr val="window" lastClr="FFFFFF"/>
      </a:lt1>
      <a:dk2>
        <a:srgbClr val="363D46"/>
      </a:dk2>
      <a:lt2>
        <a:srgbClr val="EBEBEB"/>
      </a:lt2>
      <a:accent1>
        <a:srgbClr val="6F6F6F"/>
      </a:accent1>
      <a:accent2>
        <a:srgbClr val="BFBFA5"/>
      </a:accent2>
      <a:accent3>
        <a:srgbClr val="DCD084"/>
      </a:accent3>
      <a:accent4>
        <a:srgbClr val="E7BF5F"/>
      </a:accent4>
      <a:accent5>
        <a:srgbClr val="E9A039"/>
      </a:accent5>
      <a:accent6>
        <a:srgbClr val="CF7133"/>
      </a:accent6>
      <a:hlink>
        <a:srgbClr val="F28943"/>
      </a:hlink>
      <a:folHlink>
        <a:srgbClr val="F1B76C"/>
      </a:folHlink>
    </a:clrScheme>
    <a:fontScheme name="Mesh">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Mesh">
      <a:fillStyleLst>
        <a:solidFill>
          <a:schemeClr val="phClr"/>
        </a:solidFill>
        <a:gradFill rotWithShape="1">
          <a:gsLst>
            <a:gs pos="0">
              <a:schemeClr val="phClr">
                <a:tint val="60000"/>
                <a:lumMod val="110000"/>
              </a:schemeClr>
            </a:gs>
            <a:gs pos="100000">
              <a:schemeClr val="phClr">
                <a:tint val="82000"/>
              </a:schemeClr>
            </a:gs>
          </a:gsLst>
          <a:lin ang="5400000" scaled="0"/>
        </a:gradFill>
        <a:gradFill rotWithShape="1">
          <a:gsLst>
            <a:gs pos="0">
              <a:schemeClr val="phClr">
                <a:tint val="96000"/>
                <a:lumMod val="104000"/>
              </a:schemeClr>
            </a:gs>
            <a:gs pos="100000">
              <a:schemeClr val="phClr">
                <a:shade val="84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innerShdw blurRad="50800" dist="25400" dir="13500000">
              <a:srgbClr val="000000">
                <a:alpha val="55000"/>
              </a:srgbClr>
            </a:innerShdw>
          </a:effectLst>
        </a:effectStyle>
        <a:effectStyle>
          <a:effectLst>
            <a:outerShdw blurRad="50800" dist="38100" dir="5400000" rotWithShape="0">
              <a:srgbClr val="000000">
                <a:alpha val="60000"/>
              </a:srgbClr>
            </a:outerShdw>
          </a:effectLst>
          <a:scene3d>
            <a:camera prst="orthographicFront">
              <a:rot lat="0" lon="0" rev="0"/>
            </a:camera>
            <a:lightRig rig="threePt" dir="tl"/>
          </a:scene3d>
          <a:sp3d>
            <a:bevelT w="25400" h="25400" prst="slope"/>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28000"/>
                <a:satMod val="94000"/>
                <a:lumMod val="20000"/>
              </a:schemeClr>
              <a:schemeClr val="phClr">
                <a:tint val="94000"/>
                <a:shade val="84000"/>
                <a:satMod val="148000"/>
                <a:lumMod val="114000"/>
              </a:schemeClr>
            </a:duotone>
          </a:blip>
          <a:stretch/>
        </a:blipFill>
      </a:bgFillStyleLst>
    </a:fmtScheme>
  </a:themeElements>
  <a:objectDefaults/>
  <a:extraClrSchemeLst/>
  <a:extLst>
    <a:ext uri="{05A4C25C-085E-4340-85A3-A5531E510DB2}">
      <thm15:themeFamily xmlns:thm15="http://schemas.microsoft.com/office/thememl/2012/main" name="Mesh" id="{789EC3FE-34FD-429C-9918-760025E6C145}" vid="{B8BE45C0-8141-4D58-8C71-A009BC26FBB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Mesh</Template>
  <TotalTime>250</TotalTime>
  <Words>2896</Words>
  <Application>Microsoft Macintosh PowerPoint</Application>
  <PresentationFormat>Widescreen</PresentationFormat>
  <Paragraphs>98</Paragraphs>
  <Slides>10</Slides>
  <Notes>10</Notes>
  <HiddenSlides>0</HiddenSlides>
  <MMClips>10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Aptos</vt:lpstr>
      <vt:lpstr>Arial</vt:lpstr>
      <vt:lpstr>Century Gothic</vt:lpstr>
      <vt:lpstr>Google Sans</vt:lpstr>
      <vt:lpstr>Google Sans Text</vt:lpstr>
      <vt:lpstr>Mesh</vt:lpstr>
      <vt:lpstr>The Quantum Imperative: Preparing for the Post-Quantum Era Technical Potential, Security Risks, and the Role of Governance</vt:lpstr>
      <vt:lpstr>Qubits, Superposition, and Entanglement</vt:lpstr>
      <vt:lpstr>Transforming Industry: Applications of Quantum Computing</vt:lpstr>
      <vt:lpstr>The Quantum Cryptographic Apocalypse: Shor's Algorithm</vt:lpstr>
      <vt:lpstr>Post-Quantum Cryptography (PQC) and the NIST Transition</vt:lpstr>
      <vt:lpstr>Governing Security: The NIST PQC Migration Roadmap</vt:lpstr>
      <vt:lpstr>Governing Ethics: WEF and Data Protection Frameworks</vt:lpstr>
      <vt:lpstr>Societal Impact: Ethical Challenges of the Quantum Era</vt:lpstr>
      <vt:lpstr>Case Study: The Challenge of Qubit Error Correction</vt:lpstr>
      <vt:lpstr>Summary and 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Molly Fraser [Student-PECS]</dc:creator>
  <cp:lastModifiedBy>Molly Fraser [Student-PECS]</cp:lastModifiedBy>
  <cp:revision>9</cp:revision>
  <dcterms:created xsi:type="dcterms:W3CDTF">2025-10-30T08:23:15Z</dcterms:created>
  <dcterms:modified xsi:type="dcterms:W3CDTF">2026-01-02T11:40:05Z</dcterms:modified>
</cp:coreProperties>
</file>