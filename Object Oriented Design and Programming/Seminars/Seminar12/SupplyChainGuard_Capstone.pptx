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a0b4464-3359-227e-19ef-ae18e6857b50}">
          <p14:sldIdLst>
            <p14:sldId id="256"/>
            <p14:sldId id="257"/>
          </p14:sldIdLst>
        </p14:section>
        <p14:section name="Design" id="{8364a13f-4a88-eb70-0ee4-457d96d6695a}">
          <p14:sldIdLst>
            <p14:sldId id="258"/>
            <p14:sldId id="259"/>
            <p14:sldId id="260"/>
          </p14:sldIdLst>
        </p14:section>
        <p14:section name="Security and scale" id="{b14a1670-b3e5-0d58-90d5-45fe4a2513a0}">
          <p14:sldIdLst>
            <p14:sldId id="261"/>
            <p14:sldId id="262"/>
          </p14:sldIdLst>
        </p14:section>
        <p14:section name="Wrap up" id="{b528f9f7-1ea1-5612-f4b2-0bdd32a1c2b5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tool that scans a dependency manifest, scores the risk of each package and alerts on critical findings. It was built test first and brings together every theme from the module: OOP, design patterns, secure coding, concurrency, TDD and an AI adaptable scoring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real supply chain security problem. The three cards are the three design pressures: vulnerable dependencies, hostile input, and failure modes that look like success. The objective line is the brief for the whole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facade is the single entry point and authenticates before anything else happens. The factory chooses a parser. Each dependency is looked up in parallel through a chain of decorators, then scored by an interchangeable strategy. The report is built and alerts go out to observers. Everything the facade touches is an abstraction.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example per principle, all from the code. Encapsulation is the strongest: validation happens at construction, so every code path is protected without callers having to remember to validate. Mention SOLID: each class has one job, and the composition root is the only place concrete classes are wired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pattern is here because a real variation point needed it, not for decoration. Factory Method removes an if/elif chain on format. The decorators add caching and logging without touching the source. Strategy, Observer and Visitor keep scoring, alerting and rendering independent of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two decisions. First, authentication happens before parsing, so unauthenticated callers cannot probe the parser. Second, fail closed: if a lookup fails, the dependency is reported as unverified at maximum risk rather than silently skipped. Error messages are generic, and a test proves a secret in a client exception never reaches the caller.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Threads suit this workload because lookups are I/O bound. The trade-off to mention: the cache lock is narrow, so two threads may occasionally duplicate a lookup, which wastes work but cannot give a wrong answer. For AI: the rule based model is a stand in with the same predict call shape a trained model would have, and its weights are illustrative, not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challenge led to a specific design decision. Testing slow or unreliable collaborators was handled by constructor injection, so every dependency can be replaced with a Mock using spec, which also proves the mock still matches the real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live if possible: python3 demo_capstone.py, then python3 -m unittest test_capstone -v. The project was built test first. The suite includes security tests, for example that a secret inside a client exception never reaches the caller, and concurrency tests with many threads hitting the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limitations: they show engineering judgement. The risk weights are illustrative and not validated against real incident data, and version matching is exact only. Then open the floor with the discussion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SupplyChainGuard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514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 secure, extensible dependency risk scanner</a:t>
            </a:r>
            <a:endParaRPr lang="en-US" sz="2000" dirty="0"/>
          </a:p>
        </p:txBody>
      </p:sp>
      <p:sp>
        <p:nvSpPr>
          <p:cNvPr id="4" name="Event"/>
          <p:cNvSpPr txBox="1"/>
          <p:nvPr/>
        </p:nvSpPr>
        <p:spPr>
          <a:xfrm>
            <a:off x="548640" y="3566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Capstone Project  |  Unit 12 Seminar</a:t>
            </a:r>
            <a:endParaRPr lang="en-US" sz="1400" dirty="0"/>
          </a:p>
        </p:txBody>
      </p:sp>
      <p:sp>
        <p:nvSpPr>
          <p:cNvPr id="5" name="Presenter"/>
          <p:cNvSpPr txBox="1"/>
          <p:nvPr/>
        </p:nvSpPr>
        <p:spPr>
          <a:xfrm>
            <a:off x="548640" y="3886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Molly Mae Fraser  |  MSc Computer Science, University of Essex</a:t>
            </a:r>
            <a:endParaRPr lang="en-US" sz="1400" dirty="0"/>
          </a:p>
        </p:txBody>
      </p:sp>
      <p:sp>
        <p:nvSpPr>
          <p:cNvPr id="6" name="Hero circle"/>
          <p:cNvSpPr/>
          <p:nvPr/>
        </p:nvSpPr>
        <p:spPr>
          <a:xfrm>
            <a:off x="6492240" y="128016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Hero icon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7830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23444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4" name="Hidden vulnerabilities 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idden vulnerabilities icon" descr="Hidden vulnerabil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6" name="Hidden vulnerabilities heading"/>
          <p:cNvSpPr txBox="1"/>
          <p:nvPr/>
        </p:nvSpPr>
        <p:spPr>
          <a:xfrm>
            <a:off x="68580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Hidden vulnerabilities</a:t>
            </a:r>
            <a:endParaRPr lang="en-US" sz="1800" dirty="0"/>
          </a:p>
        </p:txBody>
      </p:sp>
      <p:sp>
        <p:nvSpPr>
          <p:cNvPr id="7" name="Hidden vulnerabilities text"/>
          <p:cNvSpPr txBox="1"/>
          <p:nvPr/>
        </p:nvSpPr>
        <p:spPr>
          <a:xfrm>
            <a:off x="68580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Software is mostly third party packages, and one vulnerable version can compromise it.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91840" y="123444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9" name="Untrusted input circle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Untrusted input icon" descr="Untrusted inp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583741"/>
            <a:ext cx="307238" cy="307238"/>
          </a:xfrm>
          <a:prstGeom prst="rect">
            <a:avLst/>
          </a:prstGeom>
        </p:spPr>
      </p:pic>
      <p:sp>
        <p:nvSpPr>
          <p:cNvPr id="11" name="Untrusted input heading"/>
          <p:cNvSpPr txBox="1"/>
          <p:nvPr/>
        </p:nvSpPr>
        <p:spPr>
          <a:xfrm>
            <a:off x="352044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Untrusted input</a:t>
            </a:r>
            <a:endParaRPr lang="en-US" sz="1800" dirty="0"/>
          </a:p>
        </p:txBody>
      </p:sp>
      <p:sp>
        <p:nvSpPr>
          <p:cNvPr id="12" name="Untrusted input text"/>
          <p:cNvSpPr txBox="1"/>
          <p:nvPr/>
        </p:nvSpPr>
        <p:spPr>
          <a:xfrm>
            <a:off x="352044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Manifests come from outside the system boundary and must never be trusted.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126480" y="123444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4" name="Silent failures circle"/>
          <p:cNvSpPr/>
          <p:nvPr/>
        </p:nvSpPr>
        <p:spPr>
          <a:xfrm>
            <a:off x="63550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ilent failures icon" descr="Silent failu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583741"/>
            <a:ext cx="307238" cy="307238"/>
          </a:xfrm>
          <a:prstGeom prst="rect">
            <a:avLst/>
          </a:prstGeom>
        </p:spPr>
      </p:pic>
      <p:sp>
        <p:nvSpPr>
          <p:cNvPr id="16" name="Silent failures heading"/>
          <p:cNvSpPr txBox="1"/>
          <p:nvPr/>
        </p:nvSpPr>
        <p:spPr>
          <a:xfrm>
            <a:off x="635508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Silent failures</a:t>
            </a:r>
            <a:endParaRPr lang="en-US" sz="1800" dirty="0"/>
          </a:p>
        </p:txBody>
      </p:sp>
      <p:sp>
        <p:nvSpPr>
          <p:cNvPr id="17" name="Silent failures text"/>
          <p:cNvSpPr txBox="1"/>
          <p:nvPr/>
        </p:nvSpPr>
        <p:spPr>
          <a:xfrm>
            <a:off x="635508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dependency that could not be checked must never be reported as safe.</a:t>
            </a:r>
            <a:endParaRPr lang="en-US" sz="1400" dirty="0"/>
          </a:p>
        </p:txBody>
      </p:sp>
      <p:sp>
        <p:nvSpPr>
          <p:cNvPr id="18" name="Objective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parse a manifest safely, look up advisories, score each dependency, alert on critical findings and report, with every part replaceable.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</a:t>
            </a:r>
            <a:endParaRPr lang="en-US" sz="3400" dirty="0"/>
          </a:p>
        </p:txBody>
      </p:sp>
      <p:sp>
        <p:nvSpPr>
          <p:cNvPr id="3" name="Flow box 1"/>
          <p:cNvSpPr/>
          <p:nvPr/>
        </p:nvSpPr>
        <p:spPr>
          <a:xfrm>
            <a:off x="457200" y="128016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4" name="Flow text 1"/>
          <p:cNvSpPr txBox="1"/>
          <p:nvPr/>
        </p:nvSpPr>
        <p:spPr>
          <a:xfrm>
            <a:off x="457200" y="1280160"/>
            <a:ext cx="1463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Caller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API key + manifest</a:t>
            </a:r>
            <a:endParaRPr lang="en-US" sz="1400" dirty="0"/>
          </a:p>
        </p:txBody>
      </p:sp>
      <p:sp>
        <p:nvSpPr>
          <p:cNvPr id="5" name="Flow arrow 1"/>
          <p:cNvSpPr/>
          <p:nvPr/>
        </p:nvSpPr>
        <p:spPr>
          <a:xfrm>
            <a:off x="1938528" y="1828800"/>
            <a:ext cx="19202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Flow box 2"/>
          <p:cNvSpPr/>
          <p:nvPr/>
        </p:nvSpPr>
        <p:spPr>
          <a:xfrm>
            <a:off x="2148840" y="128016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7" name="Flow text 2"/>
          <p:cNvSpPr txBox="1"/>
          <p:nvPr/>
        </p:nvSpPr>
        <p:spPr>
          <a:xfrm>
            <a:off x="2148840" y="1280160"/>
            <a:ext cx="1463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ScannerFacade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Authenticates first</a:t>
            </a:r>
            <a:endParaRPr lang="en-US" sz="1400" dirty="0"/>
          </a:p>
        </p:txBody>
      </p:sp>
      <p:sp>
        <p:nvSpPr>
          <p:cNvPr id="8" name="Flow arrow 2"/>
          <p:cNvSpPr/>
          <p:nvPr/>
        </p:nvSpPr>
        <p:spPr>
          <a:xfrm>
            <a:off x="3630168" y="1828800"/>
            <a:ext cx="19202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Flow box 3"/>
          <p:cNvSpPr/>
          <p:nvPr/>
        </p:nvSpPr>
        <p:spPr>
          <a:xfrm>
            <a:off x="3840480" y="128016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0" name="Flow text 3"/>
          <p:cNvSpPr txBox="1"/>
          <p:nvPr/>
        </p:nvSpPr>
        <p:spPr>
          <a:xfrm>
            <a:off x="3840480" y="1280160"/>
            <a:ext cx="1463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ParserFactory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Validates input</a:t>
            </a:r>
            <a:endParaRPr lang="en-US" sz="1400" dirty="0"/>
          </a:p>
        </p:txBody>
      </p:sp>
      <p:sp>
        <p:nvSpPr>
          <p:cNvPr id="11" name="Flow arrow 3"/>
          <p:cNvSpPr/>
          <p:nvPr/>
        </p:nvSpPr>
        <p:spPr>
          <a:xfrm>
            <a:off x="5321808" y="1828800"/>
            <a:ext cx="19202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low box 4"/>
          <p:cNvSpPr/>
          <p:nvPr/>
        </p:nvSpPr>
        <p:spPr>
          <a:xfrm>
            <a:off x="5532120" y="128016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3" name="Flow text 4"/>
          <p:cNvSpPr txBox="1"/>
          <p:nvPr/>
        </p:nvSpPr>
        <p:spPr>
          <a:xfrm>
            <a:off x="5532120" y="1280160"/>
            <a:ext cx="1463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Lookup + scoring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Parallel threads</a:t>
            </a:r>
            <a:endParaRPr lang="en-US" sz="1400" dirty="0"/>
          </a:p>
        </p:txBody>
      </p:sp>
      <p:sp>
        <p:nvSpPr>
          <p:cNvPr id="14" name="Flow arrow 4"/>
          <p:cNvSpPr/>
          <p:nvPr/>
        </p:nvSpPr>
        <p:spPr>
          <a:xfrm>
            <a:off x="7013448" y="1828800"/>
            <a:ext cx="192024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Flow box 5"/>
          <p:cNvSpPr/>
          <p:nvPr/>
        </p:nvSpPr>
        <p:spPr>
          <a:xfrm>
            <a:off x="7223760" y="128016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6" name="Flow text 5"/>
          <p:cNvSpPr txBox="1"/>
          <p:nvPr/>
        </p:nvSpPr>
        <p:spPr>
          <a:xfrm>
            <a:off x="7223760" y="1280160"/>
            <a:ext cx="1463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 + alerts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Sorted by risk</a:t>
            </a:r>
            <a:endParaRPr lang="en-US" sz="1400" dirty="0"/>
          </a:p>
        </p:txBody>
      </p:sp>
      <p:sp>
        <p:nvSpPr>
          <p:cNvPr id="17" name="Source chain panel"/>
          <p:cNvSpPr/>
          <p:nvPr/>
        </p:nvSpPr>
        <p:spPr>
          <a:xfrm>
            <a:off x="457200" y="2697480"/>
            <a:ext cx="39776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8" name="Source chain heading"/>
          <p:cNvSpPr txBox="1"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Advisory source chain</a:t>
            </a:r>
            <a:endParaRPr lang="en-US" sz="1600" dirty="0"/>
          </a:p>
        </p:txBody>
      </p:sp>
      <p:sp>
        <p:nvSpPr>
          <p:cNvPr id="19" name="Source chain list"/>
          <p:cNvSpPr txBox="1"/>
          <p:nvPr/>
        </p:nvSpPr>
        <p:spPr>
          <a:xfrm>
            <a:off x="640080" y="32461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AuditLogging (Decorator)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Caching (Decorator)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memory source, or LegacyFeedAdapter (Adapter)</a:t>
            </a:r>
            <a:endParaRPr lang="en-US" sz="1400" dirty="0"/>
          </a:p>
        </p:txBody>
      </p:sp>
      <p:sp>
        <p:nvSpPr>
          <p:cNvPr id="20" name="Scoring panel"/>
          <p:cNvSpPr/>
          <p:nvPr/>
        </p:nvSpPr>
        <p:spPr>
          <a:xfrm>
            <a:off x="4709160" y="2697480"/>
            <a:ext cx="39776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21" name="Scoring heading"/>
          <p:cNvSpPr txBox="1"/>
          <p:nvPr/>
        </p:nvSpPr>
        <p:spPr>
          <a:xfrm>
            <a:off x="48920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Scoring (Strategy)</a:t>
            </a:r>
            <a:endParaRPr lang="en-US" sz="1600" dirty="0"/>
          </a:p>
        </p:txBody>
      </p:sp>
      <p:sp>
        <p:nvSpPr>
          <p:cNvPr id="22" name="Scoring list"/>
          <p:cNvSpPr txBox="1"/>
          <p:nvPr/>
        </p:nvSpPr>
        <p:spPr>
          <a:xfrm>
            <a:off x="4892040" y="32461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Max severity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 weighted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scoring via ModelRegistry and FeatureStore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OOP Principles</a:t>
            </a:r>
            <a:endParaRPr lang="en-US" sz="3400" dirty="0"/>
          </a:p>
        </p:txBody>
      </p:sp>
      <p:sp>
        <p:nvSpPr>
          <p:cNvPr id="3" name="Encapsulation card"/>
          <p:cNvSpPr/>
          <p:nvPr/>
        </p:nvSpPr>
        <p:spPr>
          <a:xfrm>
            <a:off x="457200" y="123444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" name="Encapsulation circle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ncapsulation icon" descr="Encapsu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812341"/>
            <a:ext cx="307238" cy="307238"/>
          </a:xfrm>
          <a:prstGeom prst="rect">
            <a:avLst/>
          </a:prstGeom>
        </p:spPr>
      </p:pic>
      <p:sp>
        <p:nvSpPr>
          <p:cNvPr id="6" name="Encapsulation heading"/>
          <p:cNvSpPr txBox="1"/>
          <p:nvPr/>
        </p:nvSpPr>
        <p:spPr>
          <a:xfrm>
            <a:off x="1463040" y="1344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Encapsulation</a:t>
            </a:r>
            <a:endParaRPr lang="en-US" sz="1800" dirty="0"/>
          </a:p>
        </p:txBody>
      </p:sp>
      <p:sp>
        <p:nvSpPr>
          <p:cNvPr id="7" name="Encapsulation text"/>
          <p:cNvSpPr txBox="1"/>
          <p:nvPr/>
        </p:nvSpPr>
        <p:spPr>
          <a:xfrm>
            <a:off x="146304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Dependency validates its own name and version, so an invalid object cannot exist.</a:t>
            </a:r>
            <a:endParaRPr lang="en-US" sz="1400" dirty="0"/>
          </a:p>
        </p:txBody>
      </p:sp>
      <p:sp>
        <p:nvSpPr>
          <p:cNvPr id="8" name="Abstraction card"/>
          <p:cNvSpPr/>
          <p:nvPr/>
        </p:nvSpPr>
        <p:spPr>
          <a:xfrm>
            <a:off x="4709160" y="123444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9" name="Abstraction circle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bstraction icon" descr="Abstra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812341"/>
            <a:ext cx="307238" cy="307238"/>
          </a:xfrm>
          <a:prstGeom prst="rect">
            <a:avLst/>
          </a:prstGeom>
        </p:spPr>
      </p:pic>
      <p:sp>
        <p:nvSpPr>
          <p:cNvPr id="11" name="Abstraction heading"/>
          <p:cNvSpPr txBox="1"/>
          <p:nvPr/>
        </p:nvSpPr>
        <p:spPr>
          <a:xfrm>
            <a:off x="5715000" y="1344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Abstraction</a:t>
            </a:r>
            <a:endParaRPr lang="en-US" sz="1800" dirty="0"/>
          </a:p>
        </p:txBody>
      </p:sp>
      <p:sp>
        <p:nvSpPr>
          <p:cNvPr id="12" name="Abstraction text"/>
          <p:cNvSpPr txBox="1"/>
          <p:nvPr/>
        </p:nvSpPr>
        <p:spPr>
          <a:xfrm>
            <a:off x="571500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Five abstract base classes. The facade depends only on these, never on concrete classes.</a:t>
            </a:r>
            <a:endParaRPr lang="en-US" sz="1400" dirty="0"/>
          </a:p>
        </p:txBody>
      </p:sp>
      <p:sp>
        <p:nvSpPr>
          <p:cNvPr id="13" name="Inheritance card"/>
          <p:cNvSpPr/>
          <p:nvPr/>
        </p:nvSpPr>
        <p:spPr>
          <a:xfrm>
            <a:off x="45720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4" name="Inheritance circle"/>
          <p:cNvSpPr/>
          <p:nvPr/>
        </p:nvSpPr>
        <p:spPr>
          <a:xfrm>
            <a:off x="64008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nheritance icon" descr="Inherita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503981"/>
            <a:ext cx="307238" cy="307238"/>
          </a:xfrm>
          <a:prstGeom prst="rect">
            <a:avLst/>
          </a:prstGeom>
        </p:spPr>
      </p:pic>
      <p:sp>
        <p:nvSpPr>
          <p:cNvPr id="16" name="Inheritance heading"/>
          <p:cNvSpPr txBox="1"/>
          <p:nvPr/>
        </p:nvSpPr>
        <p:spPr>
          <a:xfrm>
            <a:off x="1463040" y="3035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Inheritance</a:t>
            </a:r>
            <a:endParaRPr lang="en-US" sz="1800" dirty="0"/>
          </a:p>
        </p:txBody>
      </p:sp>
      <p:sp>
        <p:nvSpPr>
          <p:cNvPr id="17" name="Inheritance text"/>
          <p:cNvSpPr txBox="1"/>
          <p:nvPr/>
        </p:nvSpPr>
        <p:spPr>
          <a:xfrm>
            <a:off x="146304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source decorators share one base class that forwards the call by default.</a:t>
            </a:r>
            <a:endParaRPr lang="en-US" sz="1400" dirty="0"/>
          </a:p>
        </p:txBody>
      </p:sp>
      <p:sp>
        <p:nvSpPr>
          <p:cNvPr id="18" name="Polymorphism card"/>
          <p:cNvSpPr/>
          <p:nvPr/>
        </p:nvSpPr>
        <p:spPr>
          <a:xfrm>
            <a:off x="470916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9" name="Polymorphism circl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Polymorphism icon" descr="Polymorphis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3503981"/>
            <a:ext cx="307238" cy="307238"/>
          </a:xfrm>
          <a:prstGeom prst="rect">
            <a:avLst/>
          </a:prstGeom>
        </p:spPr>
      </p:pic>
      <p:sp>
        <p:nvSpPr>
          <p:cNvPr id="21" name="Polymorphism heading"/>
          <p:cNvSpPr txBox="1"/>
          <p:nvPr/>
        </p:nvSpPr>
        <p:spPr>
          <a:xfrm>
            <a:off x="5715000" y="3035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Polymorphism</a:t>
            </a:r>
            <a:endParaRPr lang="en-US" sz="1800" dirty="0"/>
          </a:p>
        </p:txBody>
      </p:sp>
      <p:sp>
        <p:nvSpPr>
          <p:cNvPr id="22" name="Polymorphism text"/>
          <p:cNvSpPr txBox="1"/>
          <p:nvPr/>
        </p:nvSpPr>
        <p:spPr>
          <a:xfrm>
            <a:off x="571500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parser, source, scorer or renderer can replace another, including mocks in tests.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Design Patterns</a:t>
            </a:r>
            <a:endParaRPr lang="en-US" sz="3400" dirty="0"/>
          </a:p>
        </p:txBody>
      </p:sp>
      <p:sp>
        <p:nvSpPr>
          <p:cNvPr id="3" name="Creational card"/>
          <p:cNvSpPr/>
          <p:nvPr/>
        </p:nvSpPr>
        <p:spPr>
          <a:xfrm>
            <a:off x="457200" y="123444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Creational circle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reational icon" descr="Creatio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571854"/>
            <a:ext cx="285293" cy="285293"/>
          </a:xfrm>
          <a:prstGeom prst="rect">
            <a:avLst/>
          </a:prstGeom>
        </p:spPr>
      </p:pic>
      <p:sp>
        <p:nvSpPr>
          <p:cNvPr id="6" name="Creational heading"/>
          <p:cNvSpPr txBox="1"/>
          <p:nvPr/>
        </p:nvSpPr>
        <p:spPr>
          <a:xfrm>
            <a:off x="1417320" y="1417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Creational</a:t>
            </a:r>
            <a:endParaRPr lang="en-US" sz="1800" dirty="0"/>
          </a:p>
        </p:txBody>
      </p:sp>
      <p:sp>
        <p:nvSpPr>
          <p:cNvPr id="7" name="Creational list"/>
          <p:cNvSpPr txBox="1"/>
          <p:nvPr/>
        </p:nvSpPr>
        <p:spPr>
          <a:xfrm>
            <a:off x="685800" y="21945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Factory Method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ParserFactory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Builder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ReportBuilder</a:t>
            </a:r>
            <a:endParaRPr lang="en-US" sz="1400" dirty="0"/>
          </a:p>
        </p:txBody>
      </p:sp>
      <p:sp>
        <p:nvSpPr>
          <p:cNvPr id="8" name="Creational rationale"/>
          <p:cNvSpPr txBox="1"/>
          <p:nvPr/>
        </p:nvSpPr>
        <p:spPr>
          <a:xfrm>
            <a:off x="68580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Add formats without editing the scanner</a:t>
            </a:r>
            <a:endParaRPr lang="en-US" sz="1400" dirty="0"/>
          </a:p>
        </p:txBody>
      </p:sp>
      <p:sp>
        <p:nvSpPr>
          <p:cNvPr id="9" name="Structural card"/>
          <p:cNvSpPr/>
          <p:nvPr/>
        </p:nvSpPr>
        <p:spPr>
          <a:xfrm>
            <a:off x="3291840" y="123444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Structural circle"/>
          <p:cNvSpPr/>
          <p:nvPr/>
        </p:nvSpPr>
        <p:spPr>
          <a:xfrm>
            <a:off x="352044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ructural icon" descr="Structur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1571854"/>
            <a:ext cx="285293" cy="285293"/>
          </a:xfrm>
          <a:prstGeom prst="rect">
            <a:avLst/>
          </a:prstGeom>
        </p:spPr>
      </p:pic>
      <p:sp>
        <p:nvSpPr>
          <p:cNvPr id="12" name="Structural heading"/>
          <p:cNvSpPr txBox="1"/>
          <p:nvPr/>
        </p:nvSpPr>
        <p:spPr>
          <a:xfrm>
            <a:off x="4251960" y="1417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Structural</a:t>
            </a:r>
            <a:endParaRPr lang="en-US" sz="1800" dirty="0"/>
          </a:p>
        </p:txBody>
      </p:sp>
      <p:sp>
        <p:nvSpPr>
          <p:cNvPr id="13" name="Structural list"/>
          <p:cNvSpPr txBox="1"/>
          <p:nvPr/>
        </p:nvSpPr>
        <p:spPr>
          <a:xfrm>
            <a:off x="3520440" y="21945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Adapter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LegacyFeedAdapter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Decorator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Caching, audit log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Facade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ScannerFacade</a:t>
            </a:r>
            <a:endParaRPr lang="en-US" sz="1400" dirty="0"/>
          </a:p>
        </p:txBody>
      </p:sp>
      <p:sp>
        <p:nvSpPr>
          <p:cNvPr id="14" name="Structural rationale"/>
          <p:cNvSpPr txBox="1"/>
          <p:nvPr/>
        </p:nvSpPr>
        <p:spPr>
          <a:xfrm>
            <a:off x="352044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Add behaviour by wrapping, not editing</a:t>
            </a:r>
            <a:endParaRPr lang="en-US" sz="1400" dirty="0"/>
          </a:p>
        </p:txBody>
      </p:sp>
      <p:sp>
        <p:nvSpPr>
          <p:cNvPr id="15" name="Behavioural card"/>
          <p:cNvSpPr/>
          <p:nvPr/>
        </p:nvSpPr>
        <p:spPr>
          <a:xfrm>
            <a:off x="6126480" y="123444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6" name="Behavioural circle"/>
          <p:cNvSpPr/>
          <p:nvPr/>
        </p:nvSpPr>
        <p:spPr>
          <a:xfrm>
            <a:off x="635508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Behavioural icon" descr="Behaviour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614" y="1571854"/>
            <a:ext cx="285293" cy="285293"/>
          </a:xfrm>
          <a:prstGeom prst="rect">
            <a:avLst/>
          </a:prstGeom>
        </p:spPr>
      </p:pic>
      <p:sp>
        <p:nvSpPr>
          <p:cNvPr id="18" name="Behavioural heading"/>
          <p:cNvSpPr txBox="1"/>
          <p:nvPr/>
        </p:nvSpPr>
        <p:spPr>
          <a:xfrm>
            <a:off x="7086600" y="1417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Behavioural</a:t>
            </a:r>
            <a:endParaRPr lang="en-US" sz="1800" dirty="0"/>
          </a:p>
        </p:txBody>
      </p:sp>
      <p:sp>
        <p:nvSpPr>
          <p:cNvPr id="19" name="Behavioural list"/>
          <p:cNvSpPr txBox="1"/>
          <p:nvPr/>
        </p:nvSpPr>
        <p:spPr>
          <a:xfrm>
            <a:off x="6355080" y="21945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Strategy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Scoring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Observer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Critical alerts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Visitor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Text and JSON</a:t>
            </a:r>
            <a:endParaRPr lang="en-US" sz="1400" dirty="0"/>
          </a:p>
        </p:txBody>
      </p:sp>
      <p:sp>
        <p:nvSpPr>
          <p:cNvPr id="20" name="Behavioural rationale"/>
          <p:cNvSpPr txBox="1"/>
          <p:nvPr/>
        </p:nvSpPr>
        <p:spPr>
          <a:xfrm>
            <a:off x="635508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Swap algorithms, alerts and output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Secure Coding</a:t>
            </a:r>
            <a:endParaRPr lang="en-US" sz="3400" dirty="0"/>
          </a:p>
        </p:txBody>
      </p:sp>
      <p:sp>
        <p:nvSpPr>
          <p:cNvPr id="3" name="Input validation circle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nput validation icon" descr="Input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319479"/>
            <a:ext cx="241402" cy="241402"/>
          </a:xfrm>
          <a:prstGeom prst="rect">
            <a:avLst/>
          </a:prstGeom>
        </p:spPr>
      </p:pic>
      <p:sp>
        <p:nvSpPr>
          <p:cNvPr id="5" name="Input validation label"/>
          <p:cNvSpPr txBox="1"/>
          <p:nvPr/>
        </p:nvSpPr>
        <p:spPr>
          <a:xfrm>
            <a:off x="118872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 validation</a:t>
            </a:r>
            <a:endParaRPr lang="en-US" sz="1600" dirty="0"/>
          </a:p>
        </p:txBody>
      </p:sp>
      <p:sp>
        <p:nvSpPr>
          <p:cNvPr id="6" name="Input validation text"/>
          <p:cNvSpPr txBox="1"/>
          <p:nvPr/>
        </p:nvSpPr>
        <p:spPr>
          <a:xfrm>
            <a:off x="3611880" y="11887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Allow-list patterns, size limits, no echo of bad input</a:t>
            </a:r>
            <a:endParaRPr lang="en-US" sz="1400" dirty="0"/>
          </a:p>
        </p:txBody>
      </p:sp>
      <p:sp>
        <p:nvSpPr>
          <p:cNvPr id="7" name="Authentication circle"/>
          <p:cNvSpPr/>
          <p:nvPr/>
        </p:nvSpPr>
        <p:spPr>
          <a:xfrm>
            <a:off x="457200" y="1892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uthentication icon" descr="Authent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023567"/>
            <a:ext cx="241402" cy="241402"/>
          </a:xfrm>
          <a:prstGeom prst="rect">
            <a:avLst/>
          </a:prstGeom>
        </p:spPr>
      </p:pic>
      <p:sp>
        <p:nvSpPr>
          <p:cNvPr id="9" name="Authentication label"/>
          <p:cNvSpPr txBox="1"/>
          <p:nvPr/>
        </p:nvSpPr>
        <p:spPr>
          <a:xfrm>
            <a:off x="1188720" y="1892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10" name="Authentication text"/>
          <p:cNvSpPr txBox="1"/>
          <p:nvPr/>
        </p:nvSpPr>
        <p:spPr>
          <a:xfrm>
            <a:off x="3611880" y="18928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Hashed keys, constant-time compare, checked before parsing</a:t>
            </a:r>
            <a:endParaRPr lang="en-US" sz="1400" dirty="0"/>
          </a:p>
        </p:txBody>
      </p:sp>
      <p:sp>
        <p:nvSpPr>
          <p:cNvPr id="11" name="Exception handling circle"/>
          <p:cNvSpPr/>
          <p:nvPr/>
        </p:nvSpPr>
        <p:spPr>
          <a:xfrm>
            <a:off x="457200" y="25968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Exception handling icon" descr="Exception handl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727655"/>
            <a:ext cx="241402" cy="241402"/>
          </a:xfrm>
          <a:prstGeom prst="rect">
            <a:avLst/>
          </a:prstGeom>
        </p:spPr>
      </p:pic>
      <p:sp>
        <p:nvSpPr>
          <p:cNvPr id="13" name="Exception handling label"/>
          <p:cNvSpPr txBox="1"/>
          <p:nvPr/>
        </p:nvSpPr>
        <p:spPr>
          <a:xfrm>
            <a:off x="1188720" y="25968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Exception handling</a:t>
            </a:r>
            <a:endParaRPr lang="en-US" sz="1600" dirty="0"/>
          </a:p>
        </p:txBody>
      </p:sp>
      <p:sp>
        <p:nvSpPr>
          <p:cNvPr id="14" name="Exception handling text"/>
          <p:cNvSpPr txBox="1"/>
          <p:nvPr/>
        </p:nvSpPr>
        <p:spPr>
          <a:xfrm>
            <a:off x="3611880" y="25968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error family with generic messages, no leaked internals</a:t>
            </a:r>
            <a:endParaRPr lang="en-US" sz="1400" dirty="0"/>
          </a:p>
        </p:txBody>
      </p:sp>
      <p:sp>
        <p:nvSpPr>
          <p:cNvPr id="15" name="Fail closed circle"/>
          <p:cNvSpPr/>
          <p:nvPr/>
        </p:nvSpPr>
        <p:spPr>
          <a:xfrm>
            <a:off x="457200" y="33009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ail closed icon" descr="Fail clos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431743"/>
            <a:ext cx="241402" cy="241402"/>
          </a:xfrm>
          <a:prstGeom prst="rect">
            <a:avLst/>
          </a:prstGeom>
        </p:spPr>
      </p:pic>
      <p:sp>
        <p:nvSpPr>
          <p:cNvPr id="17" name="Fail closed label"/>
          <p:cNvSpPr txBox="1"/>
          <p:nvPr/>
        </p:nvSpPr>
        <p:spPr>
          <a:xfrm>
            <a:off x="1188720" y="33009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Fail closed</a:t>
            </a:r>
            <a:endParaRPr lang="en-US" sz="1600" dirty="0"/>
          </a:p>
        </p:txBody>
      </p:sp>
      <p:sp>
        <p:nvSpPr>
          <p:cNvPr id="18" name="Fail closed text"/>
          <p:cNvSpPr txBox="1"/>
          <p:nvPr/>
        </p:nvSpPr>
        <p:spPr>
          <a:xfrm>
            <a:off x="3611880" y="33009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Failed lookup means unverified, maximum risk, alert raised</a:t>
            </a:r>
            <a:endParaRPr lang="en-US" sz="1400" dirty="0"/>
          </a:p>
        </p:txBody>
      </p:sp>
      <p:sp>
        <p:nvSpPr>
          <p:cNvPr id="19" name="Untrusted model output circle"/>
          <p:cNvSpPr/>
          <p:nvPr/>
        </p:nvSpPr>
        <p:spPr>
          <a:xfrm>
            <a:off x="457200" y="40050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Untrusted model output icon" descr="Untrusted model outpu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4135831"/>
            <a:ext cx="241402" cy="241402"/>
          </a:xfrm>
          <a:prstGeom prst="rect">
            <a:avLst/>
          </a:prstGeom>
        </p:spPr>
      </p:pic>
      <p:sp>
        <p:nvSpPr>
          <p:cNvPr id="21" name="Untrusted model output label"/>
          <p:cNvSpPr txBox="1"/>
          <p:nvPr/>
        </p:nvSpPr>
        <p:spPr>
          <a:xfrm>
            <a:off x="1188720" y="40050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Untrusted model output</a:t>
            </a:r>
            <a:endParaRPr lang="en-US" sz="1600" dirty="0"/>
          </a:p>
        </p:txBody>
      </p:sp>
      <p:sp>
        <p:nvSpPr>
          <p:cNvPr id="22" name="Untrusted model output text"/>
          <p:cNvSpPr txBox="1"/>
          <p:nvPr/>
        </p:nvSpPr>
        <p:spPr>
          <a:xfrm>
            <a:off x="3611880" y="40050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Scores clamped to the range 0.0 to 1.0 before 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Concurrency and AI</a:t>
            </a:r>
            <a:endParaRPr lang="en-US" sz="3400" dirty="0"/>
          </a:p>
        </p:txBody>
      </p:sp>
      <p:sp>
        <p:nvSpPr>
          <p:cNvPr id="3" name="Thread safe scanning card"/>
          <p:cNvSpPr/>
          <p:nvPr/>
        </p:nvSpPr>
        <p:spPr>
          <a:xfrm>
            <a:off x="45720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Thread safe scanning circle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hread safe scanning icon" descr="Thread safe scan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571854"/>
            <a:ext cx="285293" cy="285293"/>
          </a:xfrm>
          <a:prstGeom prst="rect">
            <a:avLst/>
          </a:prstGeom>
        </p:spPr>
      </p:pic>
      <p:sp>
        <p:nvSpPr>
          <p:cNvPr id="6" name="Thread safe scanning heading"/>
          <p:cNvSpPr txBox="1"/>
          <p:nvPr/>
        </p:nvSpPr>
        <p:spPr>
          <a:xfrm>
            <a:off x="1463040" y="1417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Thread safe scanning</a:t>
            </a:r>
            <a:endParaRPr lang="en-US" sz="1800" dirty="0"/>
          </a:p>
        </p:txBody>
      </p:sp>
      <p:sp>
        <p:nvSpPr>
          <p:cNvPr id="7" name="Thread safe scanning list"/>
          <p:cNvSpPr txBox="1"/>
          <p:nvPr/>
        </p:nvSpPr>
        <p:spPr>
          <a:xfrm>
            <a:off x="68580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Thread pool for I/O bound lookups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Locks on cache, audit log and alerts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Lock guards the dictionary only, never the slow lookup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Results returned in input order</a:t>
            </a:r>
            <a:endParaRPr lang="en-US" sz="1400" dirty="0"/>
          </a:p>
        </p:txBody>
      </p:sp>
      <p:sp>
        <p:nvSpPr>
          <p:cNvPr id="8" name="AI adaptable scoring card"/>
          <p:cNvSpPr/>
          <p:nvPr/>
        </p:nvSpPr>
        <p:spPr>
          <a:xfrm>
            <a:off x="470916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9" name="AI adaptable scoring circle"/>
          <p:cNvSpPr/>
          <p:nvPr/>
        </p:nvSpPr>
        <p:spPr>
          <a:xfrm>
            <a:off x="493776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I adaptable scoring icon" descr="AI adaptable sco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294" y="1571854"/>
            <a:ext cx="285293" cy="285293"/>
          </a:xfrm>
          <a:prstGeom prst="rect">
            <a:avLst/>
          </a:prstGeom>
        </p:spPr>
      </p:pic>
      <p:sp>
        <p:nvSpPr>
          <p:cNvPr id="11" name="AI adaptable scoring heading"/>
          <p:cNvSpPr txBox="1"/>
          <p:nvPr/>
        </p:nvSpPr>
        <p:spPr>
          <a:xfrm>
            <a:off x="5715000" y="1417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adaptable scoring</a:t>
            </a:r>
            <a:endParaRPr lang="en-US" sz="1800" dirty="0"/>
          </a:p>
        </p:txBody>
      </p:sp>
      <p:sp>
        <p:nvSpPr>
          <p:cNvPr id="12" name="AI adaptable scoring list"/>
          <p:cNvSpPr txBox="1"/>
          <p:nvPr/>
        </p:nvSpPr>
        <p:spPr>
          <a:xfrm>
            <a:off x="493776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ModelScoring is just another Strategy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ModelRegistry holds named, versioned models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FeatureStore builds model inputs in one place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 v2 to swap in a trained model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Challenges</a:t>
            </a:r>
            <a:endParaRPr lang="en-US" sz="3400" dirty="0"/>
          </a:p>
        </p:txBody>
      </p:sp>
      <p:sp>
        <p:nvSpPr>
          <p:cNvPr id="3" name="Challenge 1"/>
          <p:cNvSpPr/>
          <p:nvPr/>
        </p:nvSpPr>
        <p:spPr>
          <a:xfrm>
            <a:off x="457200" y="1234440"/>
            <a:ext cx="27432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Challenge text 1"/>
          <p:cNvSpPr txBox="1"/>
          <p:nvPr/>
        </p:nvSpPr>
        <p:spPr>
          <a:xfrm>
            <a:off x="45720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Untrusted input</a:t>
            </a:r>
            <a:endParaRPr lang="en-US" sz="1600" dirty="0"/>
          </a:p>
        </p:txBody>
      </p:sp>
      <p:sp>
        <p:nvSpPr>
          <p:cNvPr id="5" name="Arrow 1"/>
          <p:cNvSpPr/>
          <p:nvPr/>
        </p:nvSpPr>
        <p:spPr>
          <a:xfrm>
            <a:off x="3291840" y="160020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Answer card 1"/>
          <p:cNvSpPr/>
          <p:nvPr/>
        </p:nvSpPr>
        <p:spPr>
          <a:xfrm>
            <a:off x="3749040" y="123444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Answer text 1"/>
          <p:cNvSpPr txBox="1"/>
          <p:nvPr/>
        </p:nvSpPr>
        <p:spPr>
          <a:xfrm>
            <a:off x="3886200" y="1234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 at construction inside Dependency, so every code path is covered</a:t>
            </a:r>
            <a:endParaRPr lang="en-US" sz="1400" dirty="0"/>
          </a:p>
        </p:txBody>
      </p:sp>
      <p:sp>
        <p:nvSpPr>
          <p:cNvPr id="8" name="Challenge 2"/>
          <p:cNvSpPr/>
          <p:nvPr/>
        </p:nvSpPr>
        <p:spPr>
          <a:xfrm>
            <a:off x="457200" y="2103120"/>
            <a:ext cx="27432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9" name="Challenge text 2"/>
          <p:cNvSpPr txBox="1"/>
          <p:nvPr/>
        </p:nvSpPr>
        <p:spPr>
          <a:xfrm>
            <a:off x="45720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Failures that look safe</a:t>
            </a:r>
            <a:endParaRPr lang="en-US" sz="1600" dirty="0"/>
          </a:p>
        </p:txBody>
      </p:sp>
      <p:sp>
        <p:nvSpPr>
          <p:cNvPr id="10" name="Arrow 2"/>
          <p:cNvSpPr/>
          <p:nvPr/>
        </p:nvSpPr>
        <p:spPr>
          <a:xfrm>
            <a:off x="3291840" y="246888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Answer card 2"/>
          <p:cNvSpPr/>
          <p:nvPr/>
        </p:nvSpPr>
        <p:spPr>
          <a:xfrm>
            <a:off x="3749040" y="210312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Answer text 2"/>
          <p:cNvSpPr txBox="1"/>
          <p:nvPr/>
        </p:nvSpPr>
        <p:spPr>
          <a:xfrm>
            <a:off x="3886200" y="2103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 closed: unverified result at maximum risk, with an alert</a:t>
            </a:r>
            <a:endParaRPr lang="en-US" sz="1400" dirty="0"/>
          </a:p>
        </p:txBody>
      </p:sp>
      <p:sp>
        <p:nvSpPr>
          <p:cNvPr id="13" name="Challenge 3"/>
          <p:cNvSpPr/>
          <p:nvPr/>
        </p:nvSpPr>
        <p:spPr>
          <a:xfrm>
            <a:off x="457200" y="2971800"/>
            <a:ext cx="27432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4" name="Challenge text 3"/>
          <p:cNvSpPr txBox="1"/>
          <p:nvPr/>
        </p:nvSpPr>
        <p:spPr>
          <a:xfrm>
            <a:off x="45720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Third party client</a:t>
            </a:r>
            <a:endParaRPr lang="en-US" sz="1600" dirty="0"/>
          </a:p>
        </p:txBody>
      </p:sp>
      <p:sp>
        <p:nvSpPr>
          <p:cNvPr id="15" name="Arrow 3"/>
          <p:cNvSpPr/>
          <p:nvPr/>
        </p:nvSpPr>
        <p:spPr>
          <a:xfrm>
            <a:off x="3291840" y="333756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Answer card 3"/>
          <p:cNvSpPr/>
          <p:nvPr/>
        </p:nvSpPr>
        <p:spPr>
          <a:xfrm>
            <a:off x="3749040" y="297180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Answer text 3"/>
          <p:cNvSpPr txBox="1"/>
          <p:nvPr/>
        </p:nvSpPr>
        <p:spPr>
          <a:xfrm>
            <a:off x="3886200" y="2971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Adapter keeps its shape out of the domain and wraps its errors</a:t>
            </a:r>
            <a:endParaRPr lang="en-US" sz="1400" dirty="0"/>
          </a:p>
        </p:txBody>
      </p:sp>
      <p:sp>
        <p:nvSpPr>
          <p:cNvPr id="18" name="Challenge 4"/>
          <p:cNvSpPr/>
          <p:nvPr/>
        </p:nvSpPr>
        <p:spPr>
          <a:xfrm>
            <a:off x="457200" y="3840480"/>
            <a:ext cx="27432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9" name="Challenge text 4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Thread safety</a:t>
            </a:r>
            <a:endParaRPr lang="en-US" sz="1600" dirty="0"/>
          </a:p>
        </p:txBody>
      </p:sp>
      <p:sp>
        <p:nvSpPr>
          <p:cNvPr id="20" name="Arrow 4"/>
          <p:cNvSpPr/>
          <p:nvPr/>
        </p:nvSpPr>
        <p:spPr>
          <a:xfrm>
            <a:off x="3291840" y="420624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nswer card 4"/>
          <p:cNvSpPr/>
          <p:nvPr/>
        </p:nvSpPr>
        <p:spPr>
          <a:xfrm>
            <a:off x="3749040" y="384048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2" name="Answer text 4"/>
          <p:cNvSpPr txBox="1"/>
          <p:nvPr/>
        </p:nvSpPr>
        <p:spPr>
          <a:xfrm>
            <a:off x="388620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Narrow locks, a pool per scan and deterministic ordering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 and Testing</a:t>
            </a:r>
            <a:endParaRPr lang="en-US" sz="3400" dirty="0"/>
          </a:p>
        </p:txBody>
      </p:sp>
      <p:sp>
        <p:nvSpPr>
          <p:cNvPr id="3" name="Terminal panel"/>
          <p:cNvSpPr/>
          <p:nvPr/>
        </p:nvSpPr>
        <p:spPr>
          <a:xfrm>
            <a:off x="457200" y="1234440"/>
            <a:ext cx="502920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/>
        </p:spPr>
      </p:sp>
      <p:sp>
        <p:nvSpPr>
          <p:cNvPr id="4" name="Terminal command"/>
          <p:cNvSpPr txBox="1"/>
          <p:nvPr/>
        </p:nvSpPr>
        <p:spPr>
          <a:xfrm>
            <a:off x="685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scan(key, "requirements", manifest)</a:t>
            </a:r>
            <a:endParaRPr lang="en-US" sz="1300" dirty="0"/>
          </a:p>
        </p:txBody>
      </p:sp>
      <p:sp>
        <p:nvSpPr>
          <p:cNvPr id="5" name="Terminal output"/>
          <p:cNvSpPr txBox="1"/>
          <p:nvPr/>
        </p:nvSpPr>
        <p:spPr>
          <a:xfrm>
            <a:off x="68580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badlib==1.0.0   risk=0.85  CRITICAL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midlib==2.1.0   risk=0.45  MEDIUM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safelib==3.0.0  risk=0.00  NONE</a:t>
            </a:r>
            <a:endParaRPr lang="en-US" sz="1400" dirty="0"/>
          </a:p>
        </p:txBody>
      </p:sp>
      <p:sp>
        <p:nvSpPr>
          <p:cNvPr id="6" name="Terminal caption"/>
          <p:cNvSpPr txBox="1"/>
          <p:nvPr/>
        </p:nvSpPr>
        <p:spPr>
          <a:xfrm>
            <a:off x="6858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Sorted by risk. Alert raised for badlib.</a:t>
            </a:r>
            <a:endParaRPr lang="en-US" sz="1400" dirty="0"/>
          </a:p>
        </p:txBody>
      </p:sp>
      <p:sp>
        <p:nvSpPr>
          <p:cNvPr id="7" name="Tests panel"/>
          <p:cNvSpPr/>
          <p:nvPr/>
        </p:nvSpPr>
        <p:spPr>
          <a:xfrm>
            <a:off x="5760720" y="1234440"/>
            <a:ext cx="2926080" cy="3337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8" name="Tests circle"/>
          <p:cNvSpPr/>
          <p:nvPr/>
        </p:nvSpPr>
        <p:spPr>
          <a:xfrm>
            <a:off x="598932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Tests icon" descr="Te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854" y="1571854"/>
            <a:ext cx="285293" cy="285293"/>
          </a:xfrm>
          <a:prstGeom prst="rect">
            <a:avLst/>
          </a:prstGeom>
        </p:spPr>
      </p:pic>
      <p:sp>
        <p:nvSpPr>
          <p:cNvPr id="10" name="Test count"/>
          <p:cNvSpPr txBox="1"/>
          <p:nvPr/>
        </p:nvSpPr>
        <p:spPr>
          <a:xfrm>
            <a:off x="5989320" y="2148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6"/>
                </a:solidFill>
              </a:rPr>
              <a:t>39</a:t>
            </a:r>
            <a:endParaRPr lang="en-US" sz="6000" dirty="0"/>
          </a:p>
        </p:txBody>
      </p:sp>
      <p:sp>
        <p:nvSpPr>
          <p:cNvPr id="11" name="Test label"/>
          <p:cNvSpPr txBox="1"/>
          <p:nvPr/>
        </p:nvSpPr>
        <p:spPr>
          <a:xfrm>
            <a:off x="598932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tests passing</a:t>
            </a:r>
            <a:endParaRPr lang="en-US" sz="1600" dirty="0"/>
          </a:p>
        </p:txBody>
      </p:sp>
      <p:sp>
        <p:nvSpPr>
          <p:cNvPr id="12" name="Test coverage"/>
          <p:cNvSpPr txBox="1"/>
          <p:nvPr/>
        </p:nvSpPr>
        <p:spPr>
          <a:xfrm>
            <a:off x="598932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Validation, authentication, adapter, decorators, scoring, observers, visitors and concurrency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Limitations and Questions</a:t>
            </a:r>
            <a:endParaRPr lang="en-US" sz="3400" dirty="0"/>
          </a:p>
        </p:txBody>
      </p:sp>
      <p:sp>
        <p:nvSpPr>
          <p:cNvPr id="3" name="Limitations panel"/>
          <p:cNvSpPr/>
          <p:nvPr/>
        </p:nvSpPr>
        <p:spPr>
          <a:xfrm>
            <a:off x="45720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/>
        </p:spPr>
      </p:sp>
      <p:sp>
        <p:nvSpPr>
          <p:cNvPr id="4" name="Limitations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Limitations icon" descr="Limit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559966"/>
            <a:ext cx="263347" cy="263347"/>
          </a:xfrm>
          <a:prstGeom prst="rect">
            <a:avLst/>
          </a:prstGeom>
        </p:spPr>
      </p:pic>
      <p:sp>
        <p:nvSpPr>
          <p:cNvPr id="6" name="Limitations heading"/>
          <p:cNvSpPr txBox="1"/>
          <p:nvPr/>
        </p:nvSpPr>
        <p:spPr>
          <a:xfrm>
            <a:off x="137160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Honest limitations</a:t>
            </a:r>
            <a:endParaRPr lang="en-US" sz="1800" dirty="0"/>
          </a:p>
        </p:txBody>
      </p:sp>
      <p:sp>
        <p:nvSpPr>
          <p:cNvPr id="7" name="Limitations list"/>
          <p:cNvSpPr txBox="1"/>
          <p:nvPr/>
        </p:nvSpPr>
        <p:spPr>
          <a:xfrm>
            <a:off x="68580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Exact version matching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Advisory data is in 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Keys held in memory, no rotation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Risk weights are illustrative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Cache never expires</a:t>
            </a:r>
            <a:endParaRPr lang="en-US" sz="1400" dirty="0"/>
          </a:p>
        </p:txBody>
      </p:sp>
      <p:sp>
        <p:nvSpPr>
          <p:cNvPr id="8" name="Questions panel"/>
          <p:cNvSpPr/>
          <p:nvPr/>
        </p:nvSpPr>
        <p:spPr>
          <a:xfrm>
            <a:off x="470916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/>
        </p:spPr>
      </p:sp>
      <p:sp>
        <p:nvSpPr>
          <p:cNvPr id="9" name="Questions circle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Questions icon" descr="Ques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559966"/>
            <a:ext cx="263347" cy="263347"/>
          </a:xfrm>
          <a:prstGeom prst="rect">
            <a:avLst/>
          </a:prstGeom>
        </p:spPr>
      </p:pic>
      <p:sp>
        <p:nvSpPr>
          <p:cNvPr id="11" name="Questions heading"/>
          <p:cNvSpPr txBox="1"/>
          <p:nvPr/>
        </p:nvSpPr>
        <p:spPr>
          <a:xfrm>
            <a:off x="562356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For discussion</a:t>
            </a:r>
            <a:endParaRPr lang="en-US" sz="1800" dirty="0"/>
          </a:p>
        </p:txBody>
      </p:sp>
      <p:sp>
        <p:nvSpPr>
          <p:cNvPr id="12" name="Questions list"/>
          <p:cNvSpPr txBox="1"/>
          <p:nvPr/>
        </p:nvSpPr>
        <p:spPr>
          <a:xfrm>
            <a:off x="493776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How would you design version range matching?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Should observer failures be swallowed, logged or escalated?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When does a pattern become over-engineering?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plyChainGuard">
  <a:themeElements>
    <a:clrScheme name="SupplyChainGuard">
      <a:dk1>
        <a:srgbClr val="14232B"/>
      </a:dk1>
      <a:lt1>
        <a:srgbClr val="FFFFFF"/>
      </a:lt1>
      <a:dk2>
        <a:srgbClr val="1F3A44"/>
      </a:dk2>
      <a:lt2>
        <a:srgbClr val="EEF4F4"/>
      </a:lt2>
      <a:accent1>
        <a:srgbClr val="0E9F9A"/>
      </a:accent1>
      <a:accent2>
        <a:srgbClr val="F2A33A"/>
      </a:accent2>
      <a:accent3>
        <a:srgbClr val="D9534F"/>
      </a:accent3>
      <a:accent4>
        <a:srgbClr val="4F6F7C"/>
      </a:accent4>
      <a:accent5>
        <a:srgbClr val="7FC8C3"/>
      </a:accent5>
      <a:accent6>
        <a:srgbClr val="2E6F73"/>
      </a:accent6>
      <a:hlink>
        <a:srgbClr val="0E9F9A"/>
      </a:hlink>
      <a:folHlink>
        <a:srgbClr val="4F6F7C"/>
      </a:folHlink>
    </a:clrScheme>
    <a:fontScheme name="SupplyChain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SupplyChainGuard: Capstone Project</dc:title>
  <dc:subject>PptxGenJS Presentation</dc:subject>
  <dc:creator>Molly Mae Fraser</dc:creator>
  <cp:lastModifiedBy>Molly Mae Fraser</cp:lastModifiedBy>
  <cp:revision>1</cp:revision>
  <dcterms:created xsi:type="dcterms:W3CDTF">2026-10-05T08:42:22Z</dcterms:created>
  <dcterms:modified xsi:type="dcterms:W3CDTF">2026-10-05T08:42:22Z</dcterms:modified>
</cp:coreProperties>
</file>